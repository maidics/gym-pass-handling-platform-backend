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8229600" cx="14630400"/>
  <p:notesSz cx="8229600" cy="14630400"/>
  <p:embeddedFontLst>
    <p:embeddedFont>
      <p:font typeface="Instrument Sans SemiBold"/>
      <p:regular r:id="rId21"/>
      <p:bold r:id="rId22"/>
      <p:italic r:id="rId23"/>
      <p:boldItalic r:id="rId24"/>
    </p:embeddedFont>
    <p:embeddedFont>
      <p:font typeface="Instrument Sans Medium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RiShS8+59NZbSleQGyUDxXs/J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strumentSansSemiBold-bold.fntdata"/><Relationship Id="rId21" Type="http://schemas.openxmlformats.org/officeDocument/2006/relationships/font" Target="fonts/InstrumentSansSemiBold-regular.fntdata"/><Relationship Id="rId24" Type="http://schemas.openxmlformats.org/officeDocument/2006/relationships/font" Target="fonts/InstrumentSansSemiBold-boldItalic.fntdata"/><Relationship Id="rId23" Type="http://schemas.openxmlformats.org/officeDocument/2006/relationships/font" Target="fonts/InstrumentSans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strumentSansMedium-bold.fntdata"/><Relationship Id="rId25" Type="http://schemas.openxmlformats.org/officeDocument/2006/relationships/font" Target="fonts/InstrumentSansMedium-regular.fntdata"/><Relationship Id="rId28" Type="http://schemas.openxmlformats.org/officeDocument/2006/relationships/font" Target="fonts/InstrumentSansMedium-boldItalic.fntdata"/><Relationship Id="rId27" Type="http://schemas.openxmlformats.org/officeDocument/2006/relationships/font" Target="fonts/InstrumentSans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strument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strumentSans-italic.fntdata"/><Relationship Id="rId30" Type="http://schemas.openxmlformats.org/officeDocument/2006/relationships/font" Target="fonts/Instrument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Instrument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36e058cb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a36e058cb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a36e058cb8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6572254d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36572254d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36572254d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gradFill>
          <a:gsLst>
            <a:gs pos="0">
              <a:schemeClr val="lt1"/>
            </a:gs>
            <a:gs pos="50000">
              <a:srgbClr val="DEEEFF"/>
            </a:gs>
            <a:gs pos="75000">
              <a:srgbClr val="C8DEFA"/>
            </a:gs>
            <a:gs pos="100000">
              <a:srgbClr val="6E9CE7"/>
            </a:gs>
          </a:gsLst>
          <a:lin ang="0" scaled="0"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230674" y="7399800"/>
            <a:ext cx="777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DEEEFF"/>
            </a:gs>
            <a:gs pos="75000">
              <a:srgbClr val="C8DEFA"/>
            </a:gs>
            <a:gs pos="100000">
              <a:srgbClr val="6E9CE7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  <p:sp>
        <p:nvSpPr>
          <p:cNvPr id="37" name="Google Shape;37;p1"/>
          <p:cNvSpPr/>
          <p:nvPr/>
        </p:nvSpPr>
        <p:spPr>
          <a:xfrm>
            <a:off x="578525" y="2627725"/>
            <a:ext cx="83790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Jegy- és bérlet kezelő platform edzőtermek számára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>
            <p:ph idx="12" type="sldNum"/>
          </p:nvPr>
        </p:nvSpPr>
        <p:spPr>
          <a:xfrm>
            <a:off x="230674" y="7399800"/>
            <a:ext cx="777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825700" y="975550"/>
            <a:ext cx="74739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Kiindulási Probléma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16325" y="2369875"/>
            <a:ext cx="9224700" cy="2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33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0" i="0" lang="en-US" sz="2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Az egyetemi Brick Zone edzőterem még mindig papír alapú bérletekkel működik</a:t>
            </a:r>
            <a:endParaRPr b="0" i="0" sz="24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841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450"/>
              <a:buFont typeface="Instrument Sans"/>
              <a:buChar char="•"/>
            </a:pPr>
            <a:r>
              <a:rPr b="0" i="0" lang="en-US" sz="2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Ezt a bérletet könnyű otthon hagyni vagy elveszíteni</a:t>
            </a:r>
            <a:endParaRPr b="0" i="0" sz="24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841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450"/>
              <a:buFont typeface="Instrument Sans"/>
              <a:buChar char="•"/>
            </a:pPr>
            <a:r>
              <a:rPr b="0" i="0" lang="en-US" sz="2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Egy alkalmazás digitálisan kezelné a bérletet – gyorsabban egyszerűbben és biztonságosabban</a:t>
            </a:r>
            <a:endParaRPr b="0" i="0" sz="24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" name="Google Shape;47;p2" title="4rEFMfdHylp-o71qKYlzQ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3900" y="3253925"/>
            <a:ext cx="4416125" cy="4416125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  <p:sp>
        <p:nvSpPr>
          <p:cNvPr id="48" name="Google Shape;48;p2"/>
          <p:cNvSpPr/>
          <p:nvPr/>
        </p:nvSpPr>
        <p:spPr>
          <a:xfrm>
            <a:off x="825698" y="5132400"/>
            <a:ext cx="8716885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Megoldás:</a:t>
            </a:r>
            <a:endParaRPr b="1" i="0" sz="4000" u="none" cap="none" strike="noStrike">
              <a:solidFill>
                <a:srgbClr val="091C5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22974" y="5955850"/>
            <a:ext cx="9224700" cy="5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33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0" i="0" lang="en-US" sz="2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Jegy- és bérlet kezelő platform edzőtermek számára</a:t>
            </a:r>
            <a:endParaRPr b="0" i="0" sz="24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780812" y="4203978"/>
            <a:ext cx="13068776" cy="30480"/>
          </a:xfrm>
          <a:prstGeom prst="roundRect">
            <a:avLst>
              <a:gd fmla="val 658788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21006" y="314661"/>
            <a:ext cx="25389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00"/>
              <a:buFont typeface="Instrument Sans SemiBold"/>
              <a:buNone/>
            </a:pPr>
            <a:r>
              <a:rPr b="1" i="0" lang="en-US" sz="44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Tervezés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295650" y="3534728"/>
            <a:ext cx="30480" cy="669250"/>
          </a:xfrm>
          <a:prstGeom prst="roundRect">
            <a:avLst>
              <a:gd fmla="val 658788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059906" y="3952994"/>
            <a:ext cx="501968" cy="501968"/>
          </a:xfrm>
          <a:prstGeom prst="roundRect">
            <a:avLst>
              <a:gd fmla="val 40002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143607" y="4036695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03816" y="2486145"/>
            <a:ext cx="4614148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Az app alapvető funkcionalistásának implementálása a fizetési logika nélkül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965150" y="4203978"/>
            <a:ext cx="30480" cy="669250"/>
          </a:xfrm>
          <a:prstGeom prst="roundRect">
            <a:avLst>
              <a:gd fmla="val 658788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729407" y="3952994"/>
            <a:ext cx="501968" cy="501968"/>
          </a:xfrm>
          <a:prstGeom prst="roundRect">
            <a:avLst>
              <a:gd fmla="val 40002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813107" y="4036695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849528" y="5096351"/>
            <a:ext cx="4231244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II. Fázis - Fizetés</a:t>
            </a:r>
            <a:endParaRPr b="1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73316" y="5578673"/>
            <a:ext cx="4614148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Fizetési logika kiépítése hibakezeléssel, új entitásokkal, 3</a:t>
            </a:r>
            <a:r>
              <a:rPr b="0" baseline="3000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rd</a:t>
            </a:r>
            <a:r>
              <a:rPr b="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Party szolgáltatás integrálása: </a:t>
            </a:r>
            <a:r>
              <a:rPr b="0" i="1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Stripe</a:t>
            </a:r>
            <a:endParaRPr b="0" i="1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34651" y="3534728"/>
            <a:ext cx="30480" cy="669250"/>
          </a:xfrm>
          <a:prstGeom prst="roundRect">
            <a:avLst>
              <a:gd fmla="val 658788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398907" y="3952994"/>
            <a:ext cx="501968" cy="501968"/>
          </a:xfrm>
          <a:prstGeom prst="roundRect">
            <a:avLst>
              <a:gd fmla="val 40002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482608" y="4050286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58057" y="2397425"/>
            <a:ext cx="4614148" cy="11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Alap funkcionalitás bővítése mellék funkciókkal: eventek, emailek</a:t>
            </a:r>
            <a:endParaRPr b="0" i="0" sz="1750" u="none" cap="none" strike="noStrike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1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(Szakdolgozat cél)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1304151" y="4203978"/>
            <a:ext cx="30480" cy="669250"/>
          </a:xfrm>
          <a:prstGeom prst="roundRect">
            <a:avLst>
              <a:gd fmla="val 658788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068407" y="3952994"/>
            <a:ext cx="501968" cy="501968"/>
          </a:xfrm>
          <a:prstGeom prst="roundRect">
            <a:avLst>
              <a:gd fmla="val 40002" name="adj"/>
            </a:avLst>
          </a:prstGeom>
          <a:solidFill>
            <a:srgbClr val="7FA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1152108" y="4050285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427813" y="5053539"/>
            <a:ext cx="5783155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IV. Fázis – Biztonság és hibatűrés</a:t>
            </a:r>
            <a:endParaRPr b="1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012317" y="5578673"/>
            <a:ext cx="4614148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Autentiáció és autorizációs sémék bővítése, bejövő kérések korlátozása és a kimenő kérések hibatűrésének bővítése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97726" y="1960754"/>
            <a:ext cx="4395848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I. Fázis - Alapfunkciók</a:t>
            </a:r>
            <a:endParaRPr b="1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27577" y="1960754"/>
            <a:ext cx="4614148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III. Fázis – Mellékfunkciók</a:t>
            </a:r>
            <a:endParaRPr b="1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478173" y="4873229"/>
            <a:ext cx="5004435" cy="1837290"/>
          </a:xfrm>
          <a:prstGeom prst="rect">
            <a:avLst/>
          </a:prstGeom>
          <a:noFill/>
          <a:ln cap="flat" cmpd="sng" w="25400">
            <a:solidFill>
              <a:srgbClr val="7F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3481330" y="5079975"/>
            <a:ext cx="7532120" cy="1839000"/>
          </a:xfrm>
          <a:prstGeom prst="roundRect">
            <a:avLst>
              <a:gd fmla="val 6180" name="adj"/>
            </a:avLst>
          </a:prstGeom>
          <a:gradFill>
            <a:gsLst>
              <a:gs pos="0">
                <a:schemeClr val="lt1"/>
              </a:gs>
              <a:gs pos="100000">
                <a:srgbClr val="7F7F7F"/>
              </a:gs>
            </a:gsLst>
            <a:lin ang="162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861725" y="1986450"/>
            <a:ext cx="5430900" cy="2511600"/>
          </a:xfrm>
          <a:prstGeom prst="roundRect">
            <a:avLst>
              <a:gd fmla="val 6180" name="adj"/>
            </a:avLst>
          </a:prstGeom>
          <a:gradFill>
            <a:gsLst>
              <a:gs pos="0">
                <a:schemeClr val="lt1"/>
              </a:gs>
              <a:gs pos="100000">
                <a:srgbClr val="FD6F6F"/>
              </a:gs>
            </a:gsLst>
            <a:lin ang="162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81881" y="632279"/>
            <a:ext cx="54309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00"/>
              <a:buFont typeface="Instrument Sans SemiBold"/>
              <a:buNone/>
            </a:pPr>
            <a:r>
              <a:rPr b="1" i="0" lang="en-US" sz="44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Technólógiai Stack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401600" y="1986450"/>
            <a:ext cx="5430900" cy="2511600"/>
          </a:xfrm>
          <a:prstGeom prst="roundRect">
            <a:avLst>
              <a:gd fmla="val 6180" name="adj"/>
            </a:avLst>
          </a:prstGeom>
          <a:gradFill>
            <a:gsLst>
              <a:gs pos="0">
                <a:schemeClr val="lt1"/>
              </a:gs>
              <a:gs pos="100000">
                <a:srgbClr val="6E9CE7"/>
              </a:gs>
            </a:gsLst>
            <a:lin ang="168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1516500" y="2037244"/>
            <a:ext cx="3265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23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Backend &amp; Adatbázis</a:t>
            </a:r>
            <a:endParaRPr b="1" i="0" sz="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181450" y="2830746"/>
            <a:ext cx="19356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C#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.NET 9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MSSQL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8035753" y="2014409"/>
            <a:ext cx="1574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1" i="0" lang="en-US" sz="23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Frontend</a:t>
            </a:r>
            <a:endParaRPr b="1" i="0" sz="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383951" y="2800952"/>
            <a:ext cx="35712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Webes felület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TypeScript + React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Tailwind CSS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3697406" y="5129852"/>
            <a:ext cx="33069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Fejlesztői eszközök</a:t>
            </a:r>
            <a:endParaRPr b="1" i="0" sz="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17050" y="5826900"/>
            <a:ext cx="35712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Verziókezelő: Github 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Tesztelés:  Docker 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8651" y="2618252"/>
            <a:ext cx="1575900" cy="1575900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pic>
        <p:nvPicPr>
          <p:cNvPr id="96" name="Google Shape;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4844" y="2676958"/>
            <a:ext cx="1651012" cy="1469330"/>
          </a:xfrm>
          <a:prstGeom prst="rect">
            <a:avLst/>
          </a:prstGeom>
          <a:noFill/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</p:pic>
      <p:pic>
        <p:nvPicPr>
          <p:cNvPr descr="Docker, logo, logos icon - Free download on Iconfinder" id="97" name="Google Shape;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9581" y="5146438"/>
            <a:ext cx="1706073" cy="1706073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  <p:pic>
        <p:nvPicPr>
          <p:cNvPr descr="Github - Free social media icons" id="98" name="Google Shape;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026" y="5430227"/>
            <a:ext cx="1204856" cy="1204856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701275" y="740727"/>
            <a:ext cx="6517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90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Backend Architectúra</a:t>
            </a:r>
            <a:endParaRPr b="1" i="0" sz="3900" u="none" cap="none" strike="noStrike">
              <a:solidFill>
                <a:srgbClr val="091C5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58100" y="2067075"/>
            <a:ext cx="7821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Felelősségi körök elválasztása - Separation of Concerns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Framework függetlenség - időtálló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Könnyen tesztelhető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71475" lvl="0" marL="45720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50"/>
              <a:buFont typeface="Instrument Sans"/>
              <a:buChar char="•"/>
            </a:pPr>
            <a:r>
              <a:rPr b="0" i="0" lang="en-US" sz="22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Könnyen bővíthető és karbantartható </a:t>
            </a:r>
            <a:endParaRPr b="0" i="0" sz="2250" u="none" cap="none" strike="noStrike">
              <a:solidFill>
                <a:srgbClr val="091C5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6" name="Google Shape;106;p5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7" name="Google Shape;107;p5"/>
          <p:cNvGrpSpPr/>
          <p:nvPr/>
        </p:nvGrpSpPr>
        <p:grpSpPr>
          <a:xfrm>
            <a:off x="8339450" y="606500"/>
            <a:ext cx="5944525" cy="7208550"/>
            <a:chOff x="8080600" y="606500"/>
            <a:chExt cx="5944525" cy="7208550"/>
          </a:xfrm>
        </p:grpSpPr>
        <p:pic>
          <p:nvPicPr>
            <p:cNvPr id="108" name="Google Shape;108;p5" title="cleanArchitecture diagram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80600" y="740725"/>
              <a:ext cx="5944525" cy="581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5"/>
            <p:cNvSpPr txBox="1"/>
            <p:nvPr/>
          </p:nvSpPr>
          <p:spPr>
            <a:xfrm>
              <a:off x="10124963" y="606500"/>
              <a:ext cx="18558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Clean Architecture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"/>
            <p:cNvSpPr txBox="1"/>
            <p:nvPr/>
          </p:nvSpPr>
          <p:spPr>
            <a:xfrm>
              <a:off x="8817825" y="6963650"/>
              <a:ext cx="4322100" cy="8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US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Template: Jason Taylor - Clean Architecture</a:t>
              </a:r>
              <a:endParaRPr b="1" i="1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1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https://github.com/jasontaylordev/CleanArchitecture</a:t>
              </a:r>
              <a:endParaRPr b="0" i="1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5"/>
          <p:cNvSpPr/>
          <p:nvPr/>
        </p:nvSpPr>
        <p:spPr>
          <a:xfrm>
            <a:off x="518827" y="5002977"/>
            <a:ext cx="7899835" cy="1631276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100000">
                <a:srgbClr val="6E9CE7"/>
              </a:gs>
            </a:gsLst>
            <a:lin ang="10800000" scaled="0"/>
          </a:gradFill>
          <a:ln>
            <a:noFill/>
          </a:ln>
          <a:effectLst>
            <a:outerShdw blurRad="45567" rotWithShape="0" algn="bl" dir="5400000" dist="15189">
              <a:srgbClr val="000000">
                <a:alpha val="49804"/>
              </a:srgbClr>
            </a:outerShdw>
          </a:effectLst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t/>
            </a:r>
            <a:endParaRPr b="0" i="0" sz="1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1332" y="5223481"/>
            <a:ext cx="1828805" cy="1058834"/>
          </a:xfrm>
          <a:prstGeom prst="rect">
            <a:avLst/>
          </a:prstGeom>
          <a:noFill/>
          <a:ln>
            <a:noFill/>
          </a:ln>
          <a:effectLst>
            <a:outerShdw blurRad="68351" rotWithShape="0" algn="bl" dir="7080000" dist="68351">
              <a:srgbClr val="000000">
                <a:alpha val="49804"/>
              </a:srgbClr>
            </a:outerShdw>
          </a:effectLst>
        </p:spPr>
      </p:pic>
      <p:grpSp>
        <p:nvGrpSpPr>
          <p:cNvPr id="113" name="Google Shape;113;p5"/>
          <p:cNvGrpSpPr/>
          <p:nvPr/>
        </p:nvGrpSpPr>
        <p:grpSpPr>
          <a:xfrm>
            <a:off x="2456137" y="5125168"/>
            <a:ext cx="1396265" cy="1328574"/>
            <a:chOff x="1516800" y="5475494"/>
            <a:chExt cx="1822800" cy="1666341"/>
          </a:xfrm>
        </p:grpSpPr>
        <p:pic>
          <p:nvPicPr>
            <p:cNvPr id="114" name="Google Shape;114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94013" y="5475494"/>
              <a:ext cx="1153450" cy="1056283"/>
            </a:xfrm>
            <a:prstGeom prst="rect">
              <a:avLst/>
            </a:prstGeom>
            <a:noFill/>
            <a:ln>
              <a:noFill/>
            </a:ln>
            <a:effectLst>
              <a:outerShdw blurRad="45567" rotWithShape="0" algn="bl" dir="8100000" dist="68351">
                <a:srgbClr val="000000">
                  <a:alpha val="26667"/>
                </a:srgbClr>
              </a:outerShdw>
            </a:effectLst>
          </p:spPr>
        </p:pic>
        <p:sp>
          <p:nvSpPr>
            <p:cNvPr id="115" name="Google Shape;115;p5"/>
            <p:cNvSpPr txBox="1"/>
            <p:nvPr/>
          </p:nvSpPr>
          <p:spPr>
            <a:xfrm>
              <a:off x="1516800" y="6511835"/>
              <a:ext cx="1822800" cy="630000"/>
            </a:xfrm>
            <a:prstGeom prst="rect">
              <a:avLst/>
            </a:prstGeom>
            <a:noFill/>
            <a:ln>
              <a:noFill/>
            </a:ln>
            <a:effectLst>
              <a:outerShdw blurRad="45567" rotWithShape="0" algn="bl" dir="5400000" dist="15189">
                <a:srgbClr val="000000">
                  <a:alpha val="26667"/>
                </a:srgbClr>
              </a:outerShdw>
            </a:effectLst>
          </p:spPr>
          <p:txBody>
            <a:bodyPr anchorCtr="0" anchor="t" bIns="72875" lIns="72875" spcFirstLastPara="1" rIns="72875" wrap="square" tIns="7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-US" sz="1600" u="none" cap="none" strike="noStrike">
                  <a:solidFill>
                    <a:srgbClr val="091C53"/>
                  </a:solidFill>
                  <a:latin typeface="Arial"/>
                  <a:ea typeface="Arial"/>
                  <a:cs typeface="Arial"/>
                  <a:sym typeface="Arial"/>
                </a:rPr>
                <a:t>MediatR </a:t>
              </a:r>
              <a:endParaRPr b="1" i="1" sz="160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6"/>
                <a:buFont typeface="Arial"/>
                <a:buNone/>
              </a:pPr>
              <a:r>
                <a:t/>
              </a:r>
              <a:endParaRPr b="1" i="0" sz="1116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>
            <a:off x="3917570" y="5193714"/>
            <a:ext cx="1718314" cy="1271942"/>
            <a:chOff x="3136926" y="5894879"/>
            <a:chExt cx="2387474" cy="1595311"/>
          </a:xfrm>
        </p:grpSpPr>
        <p:pic>
          <p:nvPicPr>
            <p:cNvPr id="117" name="Google Shape;11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86243" y="5894879"/>
              <a:ext cx="1153452" cy="940771"/>
            </a:xfrm>
            <a:prstGeom prst="rect">
              <a:avLst/>
            </a:prstGeom>
            <a:noFill/>
            <a:ln>
              <a:noFill/>
            </a:ln>
            <a:effectLst>
              <a:outerShdw blurRad="45567" rotWithShape="0" algn="bl" dir="5400000" dist="15189">
                <a:srgbClr val="000000">
                  <a:alpha val="34902"/>
                </a:srgbClr>
              </a:outerShdw>
            </a:effectLst>
          </p:spPr>
        </p:pic>
        <p:sp>
          <p:nvSpPr>
            <p:cNvPr id="118" name="Google Shape;118;p5"/>
            <p:cNvSpPr txBox="1"/>
            <p:nvPr/>
          </p:nvSpPr>
          <p:spPr>
            <a:xfrm>
              <a:off x="3136926" y="6860190"/>
              <a:ext cx="2387474" cy="630000"/>
            </a:xfrm>
            <a:prstGeom prst="rect">
              <a:avLst/>
            </a:prstGeom>
            <a:noFill/>
            <a:ln>
              <a:noFill/>
            </a:ln>
            <a:effectLst>
              <a:outerShdw blurRad="45567" rotWithShape="0" algn="bl" dir="5400000" dist="15189">
                <a:srgbClr val="000000">
                  <a:alpha val="34902"/>
                </a:srgbClr>
              </a:outerShdw>
            </a:effectLst>
          </p:spPr>
          <p:txBody>
            <a:bodyPr anchorCtr="0" anchor="t" bIns="72875" lIns="72875" spcFirstLastPara="1" rIns="72875" wrap="square" tIns="7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-US" sz="1600" u="none" cap="none" strike="noStrike">
                  <a:solidFill>
                    <a:srgbClr val="091C53"/>
                  </a:solidFill>
                  <a:latin typeface="Arial"/>
                  <a:ea typeface="Arial"/>
                  <a:cs typeface="Arial"/>
                  <a:sym typeface="Arial"/>
                </a:rPr>
                <a:t>Guard Clauses</a:t>
              </a:r>
              <a:endParaRPr b="1" i="0" sz="160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5"/>
          <p:cNvGrpSpPr/>
          <p:nvPr/>
        </p:nvGrpSpPr>
        <p:grpSpPr>
          <a:xfrm>
            <a:off x="669614" y="5112882"/>
            <a:ext cx="1396265" cy="1411463"/>
            <a:chOff x="2959225" y="5912185"/>
            <a:chExt cx="1822800" cy="1770303"/>
          </a:xfrm>
        </p:grpSpPr>
        <p:sp>
          <p:nvSpPr>
            <p:cNvPr id="120" name="Google Shape;120;p5"/>
            <p:cNvSpPr/>
            <p:nvPr/>
          </p:nvSpPr>
          <p:spPr>
            <a:xfrm>
              <a:off x="2959225" y="5912188"/>
              <a:ext cx="1822800" cy="1770300"/>
            </a:xfrm>
            <a:prstGeom prst="roundRect">
              <a:avLst>
                <a:gd fmla="val 16667" name="adj"/>
              </a:avLst>
            </a:prstGeom>
            <a:solidFill>
              <a:srgbClr val="D1E8FF"/>
            </a:solidFill>
            <a:ln>
              <a:noFill/>
            </a:ln>
            <a:effectLst>
              <a:outerShdw blurRad="45567" rotWithShape="0" algn="bl" dir="5400000" dist="15189">
                <a:srgbClr val="000000">
                  <a:alpha val="49804"/>
                </a:srgbClr>
              </a:outerShdw>
            </a:effectLst>
          </p:spPr>
          <p:txBody>
            <a:bodyPr anchorCtr="0" anchor="ctr" bIns="72875" lIns="72875" spcFirstLastPara="1" rIns="72875" wrap="square" tIns="7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6"/>
                <a:buFont typeface="Arial"/>
                <a:buNone/>
              </a:pPr>
              <a:r>
                <a:t/>
              </a:r>
              <a:endParaRPr b="0" i="0" sz="1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5"/>
            <p:cNvGrpSpPr/>
            <p:nvPr/>
          </p:nvGrpSpPr>
          <p:grpSpPr>
            <a:xfrm>
              <a:off x="2982338" y="5912185"/>
              <a:ext cx="1776600" cy="1749254"/>
              <a:chOff x="1387363" y="5386085"/>
              <a:chExt cx="1776600" cy="1749254"/>
            </a:xfrm>
          </p:grpSpPr>
          <p:pic>
            <p:nvPicPr>
              <p:cNvPr id="122" name="Google Shape;122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524787" y="5807313"/>
                <a:ext cx="1328026" cy="132802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5567" rotWithShape="0" algn="bl" dir="5400000" dist="15189">
                  <a:srgbClr val="000000">
                    <a:alpha val="49804"/>
                  </a:srgbClr>
                </a:outerShdw>
              </a:effectLst>
            </p:spPr>
          </p:pic>
          <p:sp>
            <p:nvSpPr>
              <p:cNvPr id="123" name="Google Shape;123;p5"/>
              <p:cNvSpPr txBox="1"/>
              <p:nvPr/>
            </p:nvSpPr>
            <p:spPr>
              <a:xfrm>
                <a:off x="1387363" y="5386085"/>
                <a:ext cx="1776600" cy="4002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1392" rotWithShape="0" algn="bl">
                  <a:srgbClr val="000000">
                    <a:alpha val="92941"/>
                  </a:srgbClr>
                </a:outerShdw>
              </a:effectLst>
            </p:spPr>
            <p:txBody>
              <a:bodyPr anchorCtr="0" anchor="t" bIns="72875" lIns="72875" spcFirstLastPara="1" rIns="72875" wrap="square" tIns="728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6"/>
                  <a:buFont typeface="Arial"/>
                  <a:buNone/>
                </a:pPr>
                <a:r>
                  <a:rPr b="1" i="0" lang="en-US" sz="1116" u="none" cap="none" strike="noStrike">
                    <a:solidFill>
                      <a:srgbClr val="091C53"/>
                    </a:solidFill>
                    <a:latin typeface="Arial"/>
                    <a:ea typeface="Arial"/>
                    <a:cs typeface="Arial"/>
                    <a:sym typeface="Arial"/>
                  </a:rPr>
                  <a:t>NuGet Csomagok</a:t>
                </a:r>
                <a:endParaRPr b="1" i="0" sz="1116" u="none" cap="none" strike="noStrike">
                  <a:solidFill>
                    <a:srgbClr val="091C5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221950" y="469575"/>
            <a:ext cx="4257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Kérések kezelése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6" title="simple general flo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415400"/>
            <a:ext cx="14325601" cy="3658344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6e058cb8_0_16"/>
          <p:cNvSpPr/>
          <p:nvPr/>
        </p:nvSpPr>
        <p:spPr>
          <a:xfrm>
            <a:off x="6006742" y="461600"/>
            <a:ext cx="2616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Entitások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a36e058cb8_0_16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" name="Google Shape;139;g3a36e058cb8_0_16" title="entity relation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875" y="863425"/>
            <a:ext cx="14086400" cy="6836849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36572254d_0_44"/>
          <p:cNvSpPr/>
          <p:nvPr/>
        </p:nvSpPr>
        <p:spPr>
          <a:xfrm>
            <a:off x="378346" y="306150"/>
            <a:ext cx="9868414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Autentikáció &amp; Autorizáció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a36572254d_0_44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7" name="Google Shape;147;g3a36572254d_0_44"/>
          <p:cNvGrpSpPr/>
          <p:nvPr/>
        </p:nvGrpSpPr>
        <p:grpSpPr>
          <a:xfrm>
            <a:off x="3435025" y="2162875"/>
            <a:ext cx="7760343" cy="3903850"/>
            <a:chOff x="3435025" y="2162875"/>
            <a:chExt cx="7760343" cy="3903850"/>
          </a:xfrm>
        </p:grpSpPr>
        <p:sp>
          <p:nvSpPr>
            <p:cNvPr id="148" name="Google Shape;148;g3a36572254d_0_44"/>
            <p:cNvSpPr/>
            <p:nvPr/>
          </p:nvSpPr>
          <p:spPr>
            <a:xfrm>
              <a:off x="4262363" y="2162875"/>
              <a:ext cx="2565000" cy="6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352"/>
                </a:lnSpc>
                <a:spcBef>
                  <a:spcPts val="0"/>
                </a:spcBef>
                <a:spcAft>
                  <a:spcPts val="0"/>
                </a:spcAft>
                <a:buClr>
                  <a:srgbClr val="091C53"/>
                </a:buClr>
                <a:buSzPts val="3550"/>
                <a:buFont typeface="Instrument Sans SemiBold"/>
                <a:buNone/>
              </a:pPr>
              <a:r>
                <a:rPr b="1" i="0" lang="en-US" sz="3250" u="none" cap="none" strike="noStrike">
                  <a:solidFill>
                    <a:srgbClr val="091C53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Szerepkörök</a:t>
              </a:r>
              <a:endParaRPr b="0" i="0" sz="3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a36572254d_0_44"/>
            <p:cNvSpPr/>
            <p:nvPr/>
          </p:nvSpPr>
          <p:spPr>
            <a:xfrm>
              <a:off x="6211765" y="3399786"/>
              <a:ext cx="15684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E3063"/>
                </a:buClr>
                <a:buSzPts val="1808"/>
                <a:buFont typeface="Instrument Sans SemiBold"/>
                <a:buNone/>
              </a:pPr>
              <a:r>
                <a:rPr b="1" i="0" lang="en-US" sz="1808" u="none" cap="none" strike="noStrike">
                  <a:solidFill>
                    <a:srgbClr val="1E3063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AppAdmin</a:t>
              </a:r>
              <a:endParaRPr b="1" i="0" sz="18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a36572254d_0_44"/>
            <p:cNvSpPr/>
            <p:nvPr/>
          </p:nvSpPr>
          <p:spPr>
            <a:xfrm>
              <a:off x="6734537" y="4117376"/>
              <a:ext cx="22902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E3063"/>
                </a:buClr>
                <a:buSzPts val="1808"/>
                <a:buFont typeface="Instrument Sans SemiBold"/>
                <a:buNone/>
              </a:pPr>
              <a:r>
                <a:rPr b="1" i="0" lang="en-US" sz="1808" u="none" cap="none" strike="noStrike">
                  <a:solidFill>
                    <a:srgbClr val="1E3063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GymAdmin</a:t>
              </a:r>
              <a:endParaRPr b="0" i="0" sz="18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a36572254d_0_44"/>
            <p:cNvSpPr/>
            <p:nvPr/>
          </p:nvSpPr>
          <p:spPr>
            <a:xfrm>
              <a:off x="7257416" y="4834965"/>
              <a:ext cx="22902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E3063"/>
                </a:buClr>
                <a:buSzPts val="1808"/>
                <a:buFont typeface="Instrument Sans SemiBold"/>
                <a:buNone/>
              </a:pPr>
              <a:r>
                <a:rPr b="1" i="0" lang="en-US" sz="1808" u="none" cap="none" strike="noStrike">
                  <a:solidFill>
                    <a:srgbClr val="1E3063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GymStaff</a:t>
              </a:r>
              <a:endParaRPr b="0" i="0" sz="18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a36572254d_0_44"/>
            <p:cNvSpPr/>
            <p:nvPr/>
          </p:nvSpPr>
          <p:spPr>
            <a:xfrm flipH="1" rot="10800000">
              <a:off x="7119611" y="5332360"/>
              <a:ext cx="3703800" cy="16800"/>
            </a:xfrm>
            <a:prstGeom prst="roundRect">
              <a:avLst>
                <a:gd fmla="val 1434560" name="adj"/>
              </a:avLst>
            </a:prstGeom>
            <a:solidFill>
              <a:srgbClr val="B4CCE3"/>
            </a:solidFill>
            <a:ln>
              <a:noFill/>
            </a:ln>
          </p:spPr>
          <p:txBody>
            <a:bodyPr anchorCtr="0" anchor="ctr" bIns="94500" lIns="94500" spcFirstLastPara="1" rIns="94500" wrap="square" tIns="9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6"/>
                <a:buFont typeface="Arial"/>
                <a:buNone/>
              </a:pPr>
              <a:r>
                <a:t/>
              </a:r>
              <a:endParaRPr b="0" i="0" sz="1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a36572254d_0_44"/>
            <p:cNvSpPr/>
            <p:nvPr/>
          </p:nvSpPr>
          <p:spPr>
            <a:xfrm>
              <a:off x="7780168" y="5552518"/>
              <a:ext cx="34152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E3063"/>
                </a:buClr>
                <a:buSzPts val="1808"/>
                <a:buFont typeface="Instrument Sans SemiBold"/>
                <a:buNone/>
              </a:pPr>
              <a:r>
                <a:rPr b="1" i="0" lang="en-US" sz="1808" u="none" cap="none" strike="noStrike">
                  <a:solidFill>
                    <a:srgbClr val="1E3063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PendingGymEmployee &amp; User</a:t>
              </a:r>
              <a:endParaRPr b="0" i="0" sz="18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a36572254d_0_44"/>
            <p:cNvSpPr/>
            <p:nvPr/>
          </p:nvSpPr>
          <p:spPr>
            <a:xfrm flipH="1" rot="10800000">
              <a:off x="6542960" y="4582881"/>
              <a:ext cx="3703800" cy="16800"/>
            </a:xfrm>
            <a:prstGeom prst="roundRect">
              <a:avLst>
                <a:gd fmla="val 1434560" name="adj"/>
              </a:avLst>
            </a:prstGeom>
            <a:solidFill>
              <a:srgbClr val="B4CCE3"/>
            </a:solidFill>
            <a:ln>
              <a:noFill/>
            </a:ln>
          </p:spPr>
          <p:txBody>
            <a:bodyPr anchorCtr="0" anchor="ctr" bIns="94500" lIns="94500" spcFirstLastPara="1" rIns="94500" wrap="square" tIns="9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6"/>
                <a:buFont typeface="Arial"/>
                <a:buNone/>
              </a:pPr>
              <a:r>
                <a:t/>
              </a:r>
              <a:endParaRPr b="0" i="0" sz="1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a36572254d_0_44"/>
            <p:cNvSpPr/>
            <p:nvPr/>
          </p:nvSpPr>
          <p:spPr>
            <a:xfrm flipH="1" rot="10800000">
              <a:off x="5999895" y="3865380"/>
              <a:ext cx="3703800" cy="16800"/>
            </a:xfrm>
            <a:prstGeom prst="roundRect">
              <a:avLst>
                <a:gd fmla="val 1434560" name="adj"/>
              </a:avLst>
            </a:prstGeom>
            <a:solidFill>
              <a:srgbClr val="B4CCE3"/>
            </a:solidFill>
            <a:ln>
              <a:noFill/>
            </a:ln>
          </p:spPr>
          <p:txBody>
            <a:bodyPr anchorCtr="0" anchor="ctr" bIns="94500" lIns="94500" spcFirstLastPara="1" rIns="94500" wrap="square" tIns="9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6"/>
                <a:buFont typeface="Arial"/>
                <a:buNone/>
              </a:pPr>
              <a:r>
                <a:t/>
              </a:r>
              <a:endParaRPr b="0" i="0" sz="14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a36572254d_0_44"/>
            <p:cNvSpPr/>
            <p:nvPr/>
          </p:nvSpPr>
          <p:spPr>
            <a:xfrm>
              <a:off x="5148262" y="3252183"/>
              <a:ext cx="851633" cy="630001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28000">
                  <a:srgbClr val="6E9CE7"/>
                </a:gs>
                <a:gs pos="100000">
                  <a:srgbClr val="6E9CE7"/>
                </a:gs>
              </a:gsLst>
              <a:lin ang="1200000" scaled="0"/>
            </a:gra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a36572254d_0_44"/>
            <p:cNvSpPr/>
            <p:nvPr/>
          </p:nvSpPr>
          <p:spPr>
            <a:xfrm>
              <a:off x="4593550" y="3929175"/>
              <a:ext cx="1949400" cy="670500"/>
            </a:xfrm>
            <a:prstGeom prst="trapezoid">
              <a:avLst>
                <a:gd fmla="val 78639" name="adj"/>
              </a:avLst>
            </a:prstGeom>
            <a:gradFill>
              <a:gsLst>
                <a:gs pos="0">
                  <a:schemeClr val="lt1"/>
                </a:gs>
                <a:gs pos="28000">
                  <a:srgbClr val="6E9CE7"/>
                </a:gs>
                <a:gs pos="100000">
                  <a:srgbClr val="6E9CE7"/>
                </a:gs>
              </a:gsLst>
              <a:lin ang="1200000" scaled="0"/>
            </a:gra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a36572254d_0_44"/>
            <p:cNvSpPr/>
            <p:nvPr/>
          </p:nvSpPr>
          <p:spPr>
            <a:xfrm>
              <a:off x="4002300" y="4640275"/>
              <a:ext cx="3117300" cy="708900"/>
            </a:xfrm>
            <a:prstGeom prst="trapezoid">
              <a:avLst>
                <a:gd fmla="val 78639" name="adj"/>
              </a:avLst>
            </a:prstGeom>
            <a:gradFill>
              <a:gsLst>
                <a:gs pos="0">
                  <a:schemeClr val="lt1"/>
                </a:gs>
                <a:gs pos="28000">
                  <a:srgbClr val="6E9CE7"/>
                </a:gs>
                <a:gs pos="100000">
                  <a:srgbClr val="6E9CE7"/>
                </a:gs>
              </a:gsLst>
              <a:lin ang="1200000" scaled="0"/>
            </a:gra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a36572254d_0_44"/>
            <p:cNvSpPr/>
            <p:nvPr/>
          </p:nvSpPr>
          <p:spPr>
            <a:xfrm>
              <a:off x="3435025" y="5396225"/>
              <a:ext cx="4254600" cy="670500"/>
            </a:xfrm>
            <a:prstGeom prst="trapezoid">
              <a:avLst>
                <a:gd fmla="val 78639" name="adj"/>
              </a:avLst>
            </a:prstGeom>
            <a:gradFill>
              <a:gsLst>
                <a:gs pos="0">
                  <a:schemeClr val="lt1"/>
                </a:gs>
                <a:gs pos="28000">
                  <a:srgbClr val="6E9CE7"/>
                </a:gs>
                <a:gs pos="100000">
                  <a:srgbClr val="6E9CE7"/>
                </a:gs>
              </a:gsLst>
              <a:lin ang="1200000" scaled="0"/>
            </a:gra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378346" y="306150"/>
            <a:ext cx="9868414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Authentikáció &amp; Authorizáció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descr="A screenshot of a video game&#10;&#10;AI-generated content may be incorrect." id="167" name="Google Shape;167;p7"/>
          <p:cNvPicPr preferRelativeResize="0"/>
          <p:nvPr/>
        </p:nvPicPr>
        <p:blipFill rotWithShape="1">
          <a:blip r:embed="rId3">
            <a:alphaModFix/>
          </a:blip>
          <a:srcRect b="67982" l="9927" r="62867" t="0"/>
          <a:stretch/>
        </p:blipFill>
        <p:spPr>
          <a:xfrm>
            <a:off x="1715411" y="1456312"/>
            <a:ext cx="12914989" cy="689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378346" y="306150"/>
            <a:ext cx="9868414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Authentikáció &amp; Authorizáció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descr="A screenshot of a video game&#10;&#10;AI-generated content may be incorrect." id="175" name="Google Shape;175;p22"/>
          <p:cNvPicPr preferRelativeResize="0"/>
          <p:nvPr/>
        </p:nvPicPr>
        <p:blipFill rotWithShape="1">
          <a:blip r:embed="rId3">
            <a:alphaModFix/>
          </a:blip>
          <a:srcRect b="67982" l="9934" r="32980" t="0"/>
          <a:stretch/>
        </p:blipFill>
        <p:spPr>
          <a:xfrm>
            <a:off x="-9809226" y="1552319"/>
            <a:ext cx="25380000" cy="646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378346" y="306150"/>
            <a:ext cx="9868414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Authentikáció &amp; Authorizáció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descr="A screenshot of a video game&#10;&#10;AI-generated content may be incorrect." id="183" name="Google Shape;183;p23"/>
          <p:cNvPicPr preferRelativeResize="0"/>
          <p:nvPr/>
        </p:nvPicPr>
        <p:blipFill rotWithShape="1">
          <a:blip r:embed="rId3">
            <a:alphaModFix/>
          </a:blip>
          <a:srcRect b="67982" l="9934" r="8687" t="0"/>
          <a:stretch/>
        </p:blipFill>
        <p:spPr>
          <a:xfrm>
            <a:off x="-20110693" y="1119337"/>
            <a:ext cx="36180000" cy="646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/>
          <p:nvPr/>
        </p:nvSpPr>
        <p:spPr>
          <a:xfrm>
            <a:off x="378346" y="306150"/>
            <a:ext cx="9868414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39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Authentikáció &amp; Authorizáció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7</a:t>
            </a:r>
            <a:endParaRPr/>
          </a:p>
        </p:txBody>
      </p:sp>
      <p:pic>
        <p:nvPicPr>
          <p:cNvPr descr="A screenshot of a video game&#10;&#10;AI-generated content may be incorrect." id="191" name="Google Shape;1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32" y="1428594"/>
            <a:ext cx="13813071" cy="6270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674250" y="529825"/>
            <a:ext cx="6881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50"/>
              <a:buFont typeface="Instrument Sans SemiBold"/>
              <a:buNone/>
            </a:pPr>
            <a:r>
              <a:rPr b="1" i="0" lang="en-US" sz="3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Edzőterem regisztráció</a:t>
            </a:r>
            <a:endParaRPr b="0" i="0" sz="3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group of colorful squares&#10;&#10;AI-generated content may be incorrect.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56944" t="38483"/>
          <a:stretch/>
        </p:blipFill>
        <p:spPr>
          <a:xfrm>
            <a:off x="737465" y="1439825"/>
            <a:ext cx="13892935" cy="64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/>
          <p:nvPr/>
        </p:nvSpPr>
        <p:spPr>
          <a:xfrm>
            <a:off x="674250" y="529825"/>
            <a:ext cx="6881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50"/>
              <a:buFont typeface="Instrument Sans SemiBold"/>
              <a:buNone/>
            </a:pPr>
            <a:r>
              <a:rPr b="1" i="0" lang="en-US" sz="3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Edzőterem regisztráció</a:t>
            </a:r>
            <a:endParaRPr b="0" i="0" sz="3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group of colorful squares&#10;&#10;AI-generated content may be incorrect." id="207" name="Google Shape;207;p26"/>
          <p:cNvPicPr preferRelativeResize="0"/>
          <p:nvPr/>
        </p:nvPicPr>
        <p:blipFill rotWithShape="1">
          <a:blip r:embed="rId3">
            <a:alphaModFix/>
          </a:blip>
          <a:srcRect b="42577" l="7874" r="46785" t="-1558"/>
          <a:stretch/>
        </p:blipFill>
        <p:spPr>
          <a:xfrm>
            <a:off x="0" y="1236625"/>
            <a:ext cx="14630400" cy="61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674250" y="529825"/>
            <a:ext cx="6881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50"/>
              <a:buFont typeface="Instrument Sans SemiBold"/>
              <a:buNone/>
            </a:pPr>
            <a:r>
              <a:rPr b="1" i="0" lang="en-US" sz="3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Edzőterem regisztráció</a:t>
            </a:r>
            <a:endParaRPr b="0" i="0" sz="3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group of colorful squares&#10;&#10;AI-generated content may be incorrect." id="215" name="Google Shape;215;p27"/>
          <p:cNvPicPr preferRelativeResize="0"/>
          <p:nvPr/>
        </p:nvPicPr>
        <p:blipFill rotWithShape="1">
          <a:blip r:embed="rId3">
            <a:alphaModFix/>
          </a:blip>
          <a:srcRect b="31073" l="52118" r="-2366" t="-3135"/>
          <a:stretch/>
        </p:blipFill>
        <p:spPr>
          <a:xfrm>
            <a:off x="0" y="1236625"/>
            <a:ext cx="14630400" cy="67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674250" y="529825"/>
            <a:ext cx="6881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50"/>
              <a:buFont typeface="Instrument Sans SemiBold"/>
              <a:buNone/>
            </a:pPr>
            <a:r>
              <a:rPr b="1" i="0" lang="en-US" sz="3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Edzőterem regisztráció</a:t>
            </a:r>
            <a:endParaRPr b="0" i="0" sz="3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238374" y="7384400"/>
            <a:ext cx="684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group of colorful squares&#10;&#10;AI-generated content may be incorrect." id="223" name="Google Shape;223;p28"/>
          <p:cNvPicPr preferRelativeResize="0"/>
          <p:nvPr/>
        </p:nvPicPr>
        <p:blipFill rotWithShape="1">
          <a:blip r:embed="rId3">
            <a:alphaModFix/>
          </a:blip>
          <a:srcRect b="-6862" l="-1925" r="-2365" t="-3135"/>
          <a:stretch/>
        </p:blipFill>
        <p:spPr>
          <a:xfrm>
            <a:off x="238374" y="2019301"/>
            <a:ext cx="14537462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2025-11-14T09:36:21Z</dcterms:created>
</cp:coreProperties>
</file>