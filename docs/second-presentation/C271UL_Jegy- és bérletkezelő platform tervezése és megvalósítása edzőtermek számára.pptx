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8229600" cx="14630400"/>
  <p:notesSz cx="8229600" cy="14630400"/>
  <p:embeddedFontLst>
    <p:embeddedFont>
      <p:font typeface="Inter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11" Type="http://schemas.openxmlformats.org/officeDocument/2006/relationships/slide" Target="slides/slide7.xml"/><Relationship Id="rId22" Type="http://schemas.openxmlformats.org/officeDocument/2006/relationships/font" Target="fonts/Inter-boldItalic.fntdata"/><Relationship Id="rId10" Type="http://schemas.openxmlformats.org/officeDocument/2006/relationships/slide" Target="slides/slide6.xml"/><Relationship Id="rId21" Type="http://schemas.openxmlformats.org/officeDocument/2006/relationships/font" Target="fonts/Inter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Inter-regular.fnt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asp.net" TargetMode="Externa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téma a sajátom és a kiiundoló problémám az volt, hogy rengeteg kisebb edzőterem még mindig papír alapú bérlettel szolgál. Problémák: e</a:t>
            </a:r>
            <a:r>
              <a:rPr lang="en-US"/>
              <a:t>l</a:t>
            </a:r>
            <a:r>
              <a:rPr lang="en-US"/>
              <a:t>szakadhat, </a:t>
            </a:r>
            <a:r>
              <a:rPr lang="en-US"/>
              <a:t>kophat, </a:t>
            </a:r>
            <a:r>
              <a:rPr lang="en-US"/>
              <a:t>elveszhet. És ez a platform nyújtana digitális megoldást erre a problémára.</a:t>
            </a:r>
            <a:endParaRPr/>
          </a:p>
        </p:txBody>
      </p:sp>
      <p:sp>
        <p:nvSpPr>
          <p:cNvPr id="82" name="Google Shape;8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Mivel az alkalmazásnak fizetéseket kell kezelnie, ezért a szerver oldalon az </a:t>
            </a:r>
            <a:r>
              <a:rPr lang="en-US" u="sng">
                <a:solidFill>
                  <a:schemeClr val="hlink"/>
                </a:solidFill>
                <a:hlinkClick r:id="rId2"/>
              </a:rPr>
              <a:t>ASP.NET</a:t>
            </a:r>
            <a:r>
              <a:rPr lang="en-US"/>
              <a:t>-re esett a választás, amely egy gyors és megbízható keretrendszer és számos megbízható fizetési szolgáltató integrációja támogatott.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kezelt adatok jellege miatt az adatbázis SQL alapú.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frontenden a TypeScript/ React technológiákra esett a választás </a:t>
            </a:r>
            <a:r>
              <a:rPr lang="en-US"/>
              <a:t>szintén </a:t>
            </a:r>
            <a:r>
              <a:rPr lang="en-US"/>
              <a:t>a fizetési platformok támogatottsága és a szép reszponzív megjelenés miatt.</a:t>
            </a:r>
            <a:endParaRPr/>
          </a:p>
        </p:txBody>
      </p:sp>
      <p:sp>
        <p:nvSpPr>
          <p:cNvPr id="99" name="Google Shape;9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backend felépítése a Clean Architecture elveit követi. A rendszer a méretéből adódóan egy olyan architektúrát kellett választanom, amely  bővíthető, karbantartható, jól tesztelhető és frameworkfüggetlen.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Az architektúra 4 rétegből épül fel, és a függőségek mindig a belsőbb rétegek irányába mutatnak. (tehát a felsőbb rétegek függnek az alsóktól)</a:t>
            </a:r>
            <a:endParaRPr/>
          </a:p>
        </p:txBody>
      </p:sp>
      <p:sp>
        <p:nvSpPr>
          <p:cNvPr id="121" name="Google Shape;12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Ez a rendszer egyszerűsített Egyed-Kapcsolat modellje. Az egyik fő entitás az ApplicationUser, amelynek van Profilja, Kéréseket hozhat létre, Edzőtermi dolgozó lehet vagy Edzőtermi tag, az edzőtermi tagok Bérlet Termékeket tudnak vásárolni, amelyből előáll számukra a felhasználható bérlet.</a:t>
            </a:r>
            <a:endParaRPr/>
          </a:p>
        </p:txBody>
      </p:sp>
      <p:sp>
        <p:nvSpPr>
          <p:cNvPr id="132" name="Google Shape;13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rendszer a felhasználó </a:t>
            </a:r>
            <a:r>
              <a:rPr lang="en-US"/>
              <a:t>szerepkörökbe</a:t>
            </a:r>
            <a:r>
              <a:rPr lang="en-US"/>
              <a:t> sorolja. A sima felhasználók edzőtermi tagok lehetnek, bérleteket vásárolhatnak. Külön regisztrációval a PendingGymEmployee felhasználó olyan kéréseket hozhat létre, amellyel a saját edzőtermét tudja regisztrálni. A GymAdmin és GymStaff a saját edzőtermüket </a:t>
            </a:r>
            <a:r>
              <a:rPr lang="en-US"/>
              <a:t>kezelik </a:t>
            </a:r>
            <a:r>
              <a:rPr lang="en-US"/>
              <a:t>és az AppAdmin a felhasználók kéréseiről dönt, illetve a platform edzőtermeinek állapotát is kezeli (például felfüggesztheti az edzőtermeket).</a:t>
            </a:r>
            <a:endParaRPr/>
          </a:p>
        </p:txBody>
      </p:sp>
      <p:sp>
        <p:nvSpPr>
          <p:cNvPr id="140" name="Google Shape;14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Domain rétegre épül az Application réteg, ahol megvalósulnak az alkalmazási esetek a Domain réteg üzleti szabályaival és az Infrastructure szolgáltatásaival. Azért hogy az Application réteg framework független maradjon a réteg interface-ket definál, amelyeket az Infrastructure implementál.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Például az adatbázis-kezelésésre EF Core-t használtam, amely egy külső </a:t>
            </a:r>
            <a:r>
              <a:rPr lang="en-US"/>
              <a:t>függőség. De ilyen külső függőség a fizetési folyamatok kiépítésére választott Stripe platform is.</a:t>
            </a:r>
            <a:endParaRPr/>
          </a:p>
        </p:txBody>
      </p:sp>
      <p:sp>
        <p:nvSpPr>
          <p:cNvPr id="166" name="Google Shape;16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Minderre ráéül a Web réteg, amely egy pipeline megoldáson keresztül HTTP kéréseket fogad. A pipeline eleje egy ExceptionHandler-el kezdődik, amely körbefogja az egész kérés scope-ját. Ezután az Autentikációs middleware azonosítja a felhasználót, majd az autorizációs middleware az adott felhasználó szerepkörét. Mivel az alkalmazás két nyelvű ezért a pipeline végére beépítettem egy Lokalizációs middleware, amely beállítja a preferált nyelvet. Csak ezek lefutása után érkezik meg a kérés a Minimal API végponthoz.</a:t>
            </a:r>
            <a:endParaRPr/>
          </a:p>
        </p:txBody>
      </p:sp>
      <p:sp>
        <p:nvSpPr>
          <p:cNvPr id="187" name="Google Shape;18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beérkezett HTTP kérés a CQRS mintának megfelelően kezeli a rendszer, amely szétválasztja a command és query szerepköröket (tehát a CRUD állapotváltoztató és nem állapotváltoztató műveleteit). A CQRS minta a backendben a Mediator mintára épül. A beérkezett HTTP kérésnek megfelelően létrejön egy command vagy query és ez bekerül a MediatR pipelineba, ahol lefutnak a kérést megelőző folyamatok (például logolás, kérés validálása), ezek után kerül a kérést az adott handler-höz, amelyben lefut az alkalmazási eset, ebben rögzülhetnek DomainEventek (az alkalmazási eset egy mellékhatás pl. email küldés), amelyet egy EF Core interceptor publikál.</a:t>
            </a:r>
            <a:endParaRPr/>
          </a:p>
        </p:txBody>
      </p:sp>
      <p:sp>
        <p:nvSpPr>
          <p:cNvPr id="204" name="Google Shape;20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Egy konkrét alkalmazási eset az Edzőterem regisztrálása a platformon. Ez egy PendingGymEmployee felhasználóval kezdődik, aki email cím megerősítés után benyújthat egy edzőterem létrehozás típusú kérést, amelyet egy AppAdmin elbírál.</a:t>
            </a:r>
            <a:endParaRPr/>
          </a:p>
        </p:txBody>
      </p:sp>
      <p:sp>
        <p:nvSpPr>
          <p:cNvPr id="229" name="Google Shape;22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 az edzőterem sikeresen regisztrálva lett, akkor a kérést benyújtó felhasználó szerepkörét GymAdmin-ra váltja, aki elvégzi a Stripe onboarding folyamatot. A rendszer az onboarding után a fő (alkalmazás szintű) Stripe fiók alá besorol egy Connected fiókot. Ezután a GymAdmin létrehozhatja és kezelheti az edzőterme jegyeit és bérleteit. Ezeket a User szerepkörű felhasználók meg tudják vásárolni, amely payment-intente-el történik (ez egy EU-s megkötés). A tranzakciókhoz a Stripe díjakat számít fel.</a:t>
            </a:r>
            <a:endParaRPr/>
          </a:p>
        </p:txBody>
      </p:sp>
      <p:sp>
        <p:nvSpPr>
          <p:cNvPr id="245" name="Google Shape;24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 a felhasználónak van bérlete, akkor QR felmutatása után egy edzőtermi dolgozó egy szkennerrel vagy sima webkamerával be tudja olvasni. Ezután kap egy öltözőszekrény-számot a felhasználó és elkezdheti az edzést. Ha befejezte az edzését akkor visszaszolgáltatja a kulcsot az edzőtermi dolgozóhoz, aki le tudja zárni az edzését.</a:t>
            </a:r>
            <a:endParaRPr/>
          </a:p>
        </p:txBody>
      </p:sp>
      <p:sp>
        <p:nvSpPr>
          <p:cNvPr id="272" name="Google Shape;27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backendet működését 446 automatizált teszteléssel ellenőriztem docker teszt konténerekben, amelyek sikeresen lefutottak. Ezek lefedik az összes alkalmazási esetet külön-külön az összes specifikus lefutási eredményt, üzleti szabályt és külső szolgáltatást is.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Ezen felül a Stripe webhookjai és a frontend manuális teszteléssel történt</a:t>
            </a:r>
            <a:endParaRPr/>
          </a:p>
        </p:txBody>
      </p:sp>
      <p:sp>
        <p:nvSpPr>
          <p:cNvPr id="291" name="Google Shape;29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Összességében létrejött egy olyan rendszer, amely képes kezelni több </a:t>
            </a:r>
            <a:r>
              <a:rPr lang="en-US"/>
              <a:t>edzőterem jegy és bérlet igényeit, robosztus és bővíthető architektúrával. A webes felület könnyen kezelhető és gördülékeny élményt biztosít minden felhasználó számára.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Továbbfejlesztési lehetőségek listája szinte végtelen. Ezekből a legfontosabb a biztonság (pl. HTTP-only cookies + JWT). A Stripe integrációt is érdemes lenne elsimítani úgy hogy a fiók teljeskörűen kezelhető legyen az alkalmazás webes felületéről. Illetve egy tényleges email szolgáltatást is be lehet építeni a lokális megoldás helyett.</a:t>
            </a:r>
            <a:endParaRPr/>
          </a:p>
        </p:txBody>
      </p:sp>
      <p:sp>
        <p:nvSpPr>
          <p:cNvPr id="315" name="Google Shape;31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 rtl="0">
              <a:buNone/>
              <a:defRPr sz="1900"/>
            </a:lvl1pPr>
            <a:lvl2pPr lvl="1" rtl="0">
              <a:buNone/>
              <a:defRPr sz="1900"/>
            </a:lvl2pPr>
            <a:lvl3pPr lvl="2" rtl="0">
              <a:buNone/>
              <a:defRPr sz="1900"/>
            </a:lvl3pPr>
            <a:lvl4pPr lvl="3" rtl="0">
              <a:buNone/>
              <a:defRPr sz="1900"/>
            </a:lvl4pPr>
            <a:lvl5pPr lvl="4" rtl="0">
              <a:buNone/>
              <a:defRPr sz="1900"/>
            </a:lvl5pPr>
            <a:lvl6pPr lvl="5" rtl="0">
              <a:buNone/>
              <a:defRPr sz="1900"/>
            </a:lvl6pPr>
            <a:lvl7pPr lvl="6" rtl="0">
              <a:buNone/>
              <a:defRPr sz="1900"/>
            </a:lvl7pPr>
            <a:lvl8pPr lvl="7" rtl="0">
              <a:buNone/>
              <a:defRPr sz="1900"/>
            </a:lvl8pPr>
            <a:lvl9pPr lvl="8" rtl="0">
              <a:buNone/>
              <a:defRPr sz="19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/15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>
              <a:buNone/>
              <a:defRPr sz="1900"/>
            </a:lvl1pPr>
            <a:lvl2pPr lvl="1">
              <a:buNone/>
              <a:defRPr sz="1900"/>
            </a:lvl2pPr>
            <a:lvl3pPr lvl="2">
              <a:buNone/>
              <a:defRPr sz="1900"/>
            </a:lvl3pPr>
            <a:lvl4pPr lvl="3">
              <a:buNone/>
              <a:defRPr sz="1900"/>
            </a:lvl4pPr>
            <a:lvl5pPr lvl="4">
              <a:buNone/>
              <a:defRPr sz="1900"/>
            </a:lvl5pPr>
            <a:lvl6pPr lvl="5">
              <a:buNone/>
              <a:defRPr sz="1900"/>
            </a:lvl6pPr>
            <a:lvl7pPr lvl="6">
              <a:buNone/>
              <a:defRPr sz="1900"/>
            </a:lvl7pPr>
            <a:lvl8pPr lvl="7">
              <a:buNone/>
              <a:defRPr sz="1900"/>
            </a:lvl8pPr>
            <a:lvl9pPr lvl="8">
              <a:buNone/>
              <a:defRPr sz="19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/15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>
              <a:buNone/>
              <a:defRPr sz="1900"/>
            </a:lvl1pPr>
            <a:lvl2pPr lvl="1">
              <a:buNone/>
              <a:defRPr sz="1900"/>
            </a:lvl2pPr>
            <a:lvl3pPr lvl="2">
              <a:buNone/>
              <a:defRPr sz="1900"/>
            </a:lvl3pPr>
            <a:lvl4pPr lvl="3">
              <a:buNone/>
              <a:defRPr sz="1900"/>
            </a:lvl4pPr>
            <a:lvl5pPr lvl="4">
              <a:buNone/>
              <a:defRPr sz="1900"/>
            </a:lvl5pPr>
            <a:lvl6pPr lvl="5">
              <a:buNone/>
              <a:defRPr sz="1900"/>
            </a:lvl6pPr>
            <a:lvl7pPr lvl="6">
              <a:buNone/>
              <a:defRPr sz="1900"/>
            </a:lvl7pPr>
            <a:lvl8pPr lvl="7">
              <a:buNone/>
              <a:defRPr sz="1900"/>
            </a:lvl8pPr>
            <a:lvl9pPr lvl="8">
              <a:buNone/>
              <a:defRPr sz="19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/15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>
              <a:buNone/>
              <a:defRPr sz="1900"/>
            </a:lvl1pPr>
            <a:lvl2pPr lvl="1">
              <a:buNone/>
              <a:defRPr sz="1900"/>
            </a:lvl2pPr>
            <a:lvl3pPr lvl="2">
              <a:buNone/>
              <a:defRPr sz="1900"/>
            </a:lvl3pPr>
            <a:lvl4pPr lvl="3">
              <a:buNone/>
              <a:defRPr sz="1900"/>
            </a:lvl4pPr>
            <a:lvl5pPr lvl="4">
              <a:buNone/>
              <a:defRPr sz="1900"/>
            </a:lvl5pPr>
            <a:lvl6pPr lvl="5">
              <a:buNone/>
              <a:defRPr sz="1900"/>
            </a:lvl6pPr>
            <a:lvl7pPr lvl="6">
              <a:buNone/>
              <a:defRPr sz="1900"/>
            </a:lvl7pPr>
            <a:lvl8pPr lvl="7">
              <a:buNone/>
              <a:defRPr sz="1900"/>
            </a:lvl8pPr>
            <a:lvl9pPr lvl="8">
              <a:buNone/>
              <a:defRPr sz="19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/15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>
              <a:buNone/>
              <a:defRPr sz="1900"/>
            </a:lvl1pPr>
            <a:lvl2pPr lvl="1">
              <a:buNone/>
              <a:defRPr sz="1900"/>
            </a:lvl2pPr>
            <a:lvl3pPr lvl="2">
              <a:buNone/>
              <a:defRPr sz="1900"/>
            </a:lvl3pPr>
            <a:lvl4pPr lvl="3">
              <a:buNone/>
              <a:defRPr sz="1900"/>
            </a:lvl4pPr>
            <a:lvl5pPr lvl="4">
              <a:buNone/>
              <a:defRPr sz="1900"/>
            </a:lvl5pPr>
            <a:lvl6pPr lvl="5">
              <a:buNone/>
              <a:defRPr sz="1900"/>
            </a:lvl6pPr>
            <a:lvl7pPr lvl="6">
              <a:buNone/>
              <a:defRPr sz="1900"/>
            </a:lvl7pPr>
            <a:lvl8pPr lvl="7">
              <a:buNone/>
              <a:defRPr sz="1900"/>
            </a:lvl8pPr>
            <a:lvl9pPr lvl="8">
              <a:buNone/>
              <a:defRPr sz="19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/15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>
              <a:buNone/>
              <a:defRPr sz="1900"/>
            </a:lvl1pPr>
            <a:lvl2pPr lvl="1">
              <a:buNone/>
              <a:defRPr sz="1900"/>
            </a:lvl2pPr>
            <a:lvl3pPr lvl="2">
              <a:buNone/>
              <a:defRPr sz="1900"/>
            </a:lvl3pPr>
            <a:lvl4pPr lvl="3">
              <a:buNone/>
              <a:defRPr sz="1900"/>
            </a:lvl4pPr>
            <a:lvl5pPr lvl="4">
              <a:buNone/>
              <a:defRPr sz="1900"/>
            </a:lvl5pPr>
            <a:lvl6pPr lvl="5">
              <a:buNone/>
              <a:defRPr sz="1900"/>
            </a:lvl6pPr>
            <a:lvl7pPr lvl="6">
              <a:buNone/>
              <a:defRPr sz="1900"/>
            </a:lvl7pPr>
            <a:lvl8pPr lvl="7">
              <a:buNone/>
              <a:defRPr sz="1900"/>
            </a:lvl8pPr>
            <a:lvl9pPr lvl="8">
              <a:buNone/>
              <a:defRPr sz="19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/15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>
              <a:buNone/>
              <a:defRPr sz="1900"/>
            </a:lvl1pPr>
            <a:lvl2pPr lvl="1">
              <a:buNone/>
              <a:defRPr sz="1900"/>
            </a:lvl2pPr>
            <a:lvl3pPr lvl="2">
              <a:buNone/>
              <a:defRPr sz="1900"/>
            </a:lvl3pPr>
            <a:lvl4pPr lvl="3">
              <a:buNone/>
              <a:defRPr sz="1900"/>
            </a:lvl4pPr>
            <a:lvl5pPr lvl="4">
              <a:buNone/>
              <a:defRPr sz="1900"/>
            </a:lvl5pPr>
            <a:lvl6pPr lvl="5">
              <a:buNone/>
              <a:defRPr sz="1900"/>
            </a:lvl6pPr>
            <a:lvl7pPr lvl="6">
              <a:buNone/>
              <a:defRPr sz="1900"/>
            </a:lvl7pPr>
            <a:lvl8pPr lvl="7">
              <a:buNone/>
              <a:defRPr sz="1900"/>
            </a:lvl8pPr>
            <a:lvl9pPr lvl="8">
              <a:buNone/>
              <a:defRPr sz="19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/15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>
              <a:buNone/>
              <a:defRPr sz="1900"/>
            </a:lvl1pPr>
            <a:lvl2pPr lvl="1">
              <a:buNone/>
              <a:defRPr sz="1900"/>
            </a:lvl2pPr>
            <a:lvl3pPr lvl="2">
              <a:buNone/>
              <a:defRPr sz="1900"/>
            </a:lvl3pPr>
            <a:lvl4pPr lvl="3">
              <a:buNone/>
              <a:defRPr sz="1900"/>
            </a:lvl4pPr>
            <a:lvl5pPr lvl="4">
              <a:buNone/>
              <a:defRPr sz="1900"/>
            </a:lvl5pPr>
            <a:lvl6pPr lvl="5">
              <a:buNone/>
              <a:defRPr sz="1900"/>
            </a:lvl6pPr>
            <a:lvl7pPr lvl="6">
              <a:buNone/>
              <a:defRPr sz="1900"/>
            </a:lvl7pPr>
            <a:lvl8pPr lvl="7">
              <a:buNone/>
              <a:defRPr sz="1900"/>
            </a:lvl8pPr>
            <a:lvl9pPr lvl="8">
              <a:buNone/>
              <a:defRPr sz="19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/15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>
              <a:buNone/>
              <a:defRPr sz="1900"/>
            </a:lvl1pPr>
            <a:lvl2pPr lvl="1">
              <a:buNone/>
              <a:defRPr sz="1900"/>
            </a:lvl2pPr>
            <a:lvl3pPr lvl="2">
              <a:buNone/>
              <a:defRPr sz="1900"/>
            </a:lvl3pPr>
            <a:lvl4pPr lvl="3">
              <a:buNone/>
              <a:defRPr sz="1900"/>
            </a:lvl4pPr>
            <a:lvl5pPr lvl="4">
              <a:buNone/>
              <a:defRPr sz="1900"/>
            </a:lvl5pPr>
            <a:lvl6pPr lvl="5">
              <a:buNone/>
              <a:defRPr sz="1900"/>
            </a:lvl6pPr>
            <a:lvl7pPr lvl="6">
              <a:buNone/>
              <a:defRPr sz="1900"/>
            </a:lvl7pPr>
            <a:lvl8pPr lvl="7">
              <a:buNone/>
              <a:defRPr sz="1900"/>
            </a:lvl8pPr>
            <a:lvl9pPr lvl="8">
              <a:buNone/>
              <a:defRPr sz="19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/15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13482849" y="7599750"/>
            <a:ext cx="1085700" cy="6300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>
              <a:buNone/>
              <a:defRPr sz="1900"/>
            </a:lvl1pPr>
            <a:lvl2pPr lvl="1">
              <a:buNone/>
              <a:defRPr sz="1900"/>
            </a:lvl2pPr>
            <a:lvl3pPr lvl="2">
              <a:buNone/>
              <a:defRPr sz="1900"/>
            </a:lvl3pPr>
            <a:lvl4pPr lvl="3">
              <a:buNone/>
              <a:defRPr sz="1900"/>
            </a:lvl4pPr>
            <a:lvl5pPr lvl="4">
              <a:buNone/>
              <a:defRPr sz="1900"/>
            </a:lvl5pPr>
            <a:lvl6pPr lvl="5">
              <a:buNone/>
              <a:defRPr sz="1900"/>
            </a:lvl6pPr>
            <a:lvl7pPr lvl="6">
              <a:buNone/>
              <a:defRPr sz="1900"/>
            </a:lvl7pPr>
            <a:lvl8pPr lvl="7">
              <a:buNone/>
              <a:defRPr sz="1900"/>
            </a:lvl8pPr>
            <a:lvl9pPr lvl="8">
              <a:buNone/>
              <a:defRPr sz="19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/15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bg>
      <p:bgPr>
        <a:solidFill>
          <a:srgbClr val="00000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2"/>
          <p:cNvSpPr txBox="1"/>
          <p:nvPr>
            <p:ph idx="12" type="sldNum"/>
          </p:nvPr>
        </p:nvSpPr>
        <p:spPr>
          <a:xfrm>
            <a:off x="13482849" y="7599750"/>
            <a:ext cx="1085700" cy="6300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>
              <a:buNone/>
              <a:defRPr sz="1900"/>
            </a:lvl1pPr>
            <a:lvl2pPr lvl="1">
              <a:buNone/>
              <a:defRPr sz="1900"/>
            </a:lvl2pPr>
            <a:lvl3pPr lvl="2">
              <a:buNone/>
              <a:defRPr sz="1900"/>
            </a:lvl3pPr>
            <a:lvl4pPr lvl="3">
              <a:buNone/>
              <a:defRPr sz="1900"/>
            </a:lvl4pPr>
            <a:lvl5pPr lvl="4">
              <a:buNone/>
              <a:defRPr sz="1900"/>
            </a:lvl5pPr>
            <a:lvl6pPr lvl="5">
              <a:buNone/>
              <a:defRPr sz="1900"/>
            </a:lvl6pPr>
            <a:lvl7pPr lvl="6">
              <a:buNone/>
              <a:defRPr sz="1900"/>
            </a:lvl7pPr>
            <a:lvl8pPr lvl="7">
              <a:buNone/>
              <a:defRPr sz="1900"/>
            </a:lvl8pPr>
            <a:lvl9pPr lvl="8">
              <a:buNone/>
              <a:defRPr sz="19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/15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bg>
      <p:bgPr>
        <a:solidFill>
          <a:srgbClr val="000000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13482849" y="7599750"/>
            <a:ext cx="1085700" cy="6300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>
              <a:buNone/>
              <a:defRPr sz="1900"/>
            </a:lvl1pPr>
            <a:lvl2pPr lvl="1">
              <a:buNone/>
              <a:defRPr sz="1900"/>
            </a:lvl2pPr>
            <a:lvl3pPr lvl="2">
              <a:buNone/>
              <a:defRPr sz="1900"/>
            </a:lvl3pPr>
            <a:lvl4pPr lvl="3">
              <a:buNone/>
              <a:defRPr sz="1900"/>
            </a:lvl4pPr>
            <a:lvl5pPr lvl="4">
              <a:buNone/>
              <a:defRPr sz="1900"/>
            </a:lvl5pPr>
            <a:lvl6pPr lvl="5">
              <a:buNone/>
              <a:defRPr sz="1900"/>
            </a:lvl6pPr>
            <a:lvl7pPr lvl="6">
              <a:buNone/>
              <a:defRPr sz="1900"/>
            </a:lvl7pPr>
            <a:lvl8pPr lvl="7">
              <a:buNone/>
              <a:defRPr sz="1900"/>
            </a:lvl8pPr>
            <a:lvl9pPr lvl="8">
              <a:buNone/>
              <a:defRPr sz="19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/15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bg>
      <p:bgPr>
        <a:solidFill>
          <a:srgbClr val="000000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13482849" y="7599750"/>
            <a:ext cx="1085700" cy="6300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>
              <a:buNone/>
              <a:defRPr sz="1900"/>
            </a:lvl1pPr>
            <a:lvl2pPr lvl="1">
              <a:buNone/>
              <a:defRPr sz="1900"/>
            </a:lvl2pPr>
            <a:lvl3pPr lvl="2">
              <a:buNone/>
              <a:defRPr sz="1900"/>
            </a:lvl3pPr>
            <a:lvl4pPr lvl="3">
              <a:buNone/>
              <a:defRPr sz="1900"/>
            </a:lvl4pPr>
            <a:lvl5pPr lvl="4">
              <a:buNone/>
              <a:defRPr sz="1900"/>
            </a:lvl5pPr>
            <a:lvl6pPr lvl="5">
              <a:buNone/>
              <a:defRPr sz="1900"/>
            </a:lvl6pPr>
            <a:lvl7pPr lvl="6">
              <a:buNone/>
              <a:defRPr sz="1900"/>
            </a:lvl7pPr>
            <a:lvl8pPr lvl="7">
              <a:buNone/>
              <a:defRPr sz="1900"/>
            </a:lvl8pPr>
            <a:lvl9pPr lvl="8">
              <a:buNone/>
              <a:defRPr sz="19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/15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4 master">
  <p:cSld name="Slide 14 master">
    <p:bg>
      <p:bgPr>
        <a:solidFill>
          <a:srgbClr val="000000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13482849" y="7599750"/>
            <a:ext cx="1085700" cy="6300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>
              <a:buNone/>
              <a:defRPr sz="1900"/>
            </a:lvl1pPr>
            <a:lvl2pPr lvl="1">
              <a:buNone/>
              <a:defRPr sz="1900"/>
            </a:lvl2pPr>
            <a:lvl3pPr lvl="2">
              <a:buNone/>
              <a:defRPr sz="1900"/>
            </a:lvl3pPr>
            <a:lvl4pPr lvl="3">
              <a:buNone/>
              <a:defRPr sz="1900"/>
            </a:lvl4pPr>
            <a:lvl5pPr lvl="4">
              <a:buNone/>
              <a:defRPr sz="1900"/>
            </a:lvl5pPr>
            <a:lvl6pPr lvl="5">
              <a:buNone/>
              <a:defRPr sz="1900"/>
            </a:lvl6pPr>
            <a:lvl7pPr lvl="6">
              <a:buNone/>
              <a:defRPr sz="1900"/>
            </a:lvl7pPr>
            <a:lvl8pPr lvl="7">
              <a:buNone/>
              <a:defRPr sz="1900"/>
            </a:lvl8pPr>
            <a:lvl9pPr lvl="8">
              <a:buNone/>
              <a:defRPr sz="19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/15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98720" y="712040"/>
            <a:ext cx="136329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  <a:defRPr sz="4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  <a:defRPr sz="4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  <a:defRPr sz="4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  <a:defRPr sz="4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  <a:defRPr sz="4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  <a:defRPr sz="4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  <a:defRPr sz="4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  <a:defRPr sz="4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  <a:defRPr sz="4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98720" y="1843960"/>
            <a:ext cx="13632900" cy="54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412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900"/>
              <a:buChar char="●"/>
              <a:defRPr sz="2900">
                <a:solidFill>
                  <a:schemeClr val="dk2"/>
                </a:solidFill>
              </a:defRPr>
            </a:lvl1pPr>
            <a:lvl2pPr indent="-3683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○"/>
              <a:defRPr sz="2200">
                <a:solidFill>
                  <a:schemeClr val="dk2"/>
                </a:solidFill>
              </a:defRPr>
            </a:lvl2pPr>
            <a:lvl3pPr indent="-3683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■"/>
              <a:defRPr sz="2200">
                <a:solidFill>
                  <a:schemeClr val="dk2"/>
                </a:solidFill>
              </a:defRPr>
            </a:lvl3pPr>
            <a:lvl4pPr indent="-3683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  <a:defRPr sz="2200">
                <a:solidFill>
                  <a:schemeClr val="dk2"/>
                </a:solidFill>
              </a:defRPr>
            </a:lvl4pPr>
            <a:lvl5pPr indent="-3683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○"/>
              <a:defRPr sz="2200">
                <a:solidFill>
                  <a:schemeClr val="dk2"/>
                </a:solidFill>
              </a:defRPr>
            </a:lvl5pPr>
            <a:lvl6pPr indent="-3683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■"/>
              <a:defRPr sz="2200">
                <a:solidFill>
                  <a:schemeClr val="dk2"/>
                </a:solidFill>
              </a:defRPr>
            </a:lvl6pPr>
            <a:lvl7pPr indent="-3683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  <a:defRPr sz="2200">
                <a:solidFill>
                  <a:schemeClr val="dk2"/>
                </a:solidFill>
              </a:defRPr>
            </a:lvl7pPr>
            <a:lvl8pPr indent="-3683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○"/>
              <a:defRPr sz="2200">
                <a:solidFill>
                  <a:schemeClr val="dk2"/>
                </a:solidFill>
              </a:defRPr>
            </a:lvl8pPr>
            <a:lvl9pPr indent="-3683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■"/>
              <a:defRPr sz="2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 algn="r">
              <a:buNone/>
              <a:defRPr sz="1600">
                <a:solidFill>
                  <a:schemeClr val="dk2"/>
                </a:solidFill>
              </a:defRPr>
            </a:lvl1pPr>
            <a:lvl2pPr lvl="1" algn="r">
              <a:buNone/>
              <a:defRPr sz="1600">
                <a:solidFill>
                  <a:schemeClr val="dk2"/>
                </a:solidFill>
              </a:defRPr>
            </a:lvl2pPr>
            <a:lvl3pPr lvl="2" algn="r">
              <a:buNone/>
              <a:defRPr sz="1600">
                <a:solidFill>
                  <a:schemeClr val="dk2"/>
                </a:solidFill>
              </a:defRPr>
            </a:lvl3pPr>
            <a:lvl4pPr lvl="3" algn="r">
              <a:buNone/>
              <a:defRPr sz="1600">
                <a:solidFill>
                  <a:schemeClr val="dk2"/>
                </a:solidFill>
              </a:defRPr>
            </a:lvl4pPr>
            <a:lvl5pPr lvl="4" algn="r">
              <a:buNone/>
              <a:defRPr sz="1600">
                <a:solidFill>
                  <a:schemeClr val="dk2"/>
                </a:solidFill>
              </a:defRPr>
            </a:lvl5pPr>
            <a:lvl6pPr lvl="5" algn="r">
              <a:buNone/>
              <a:defRPr sz="1600">
                <a:solidFill>
                  <a:schemeClr val="dk2"/>
                </a:solidFill>
              </a:defRPr>
            </a:lvl6pPr>
            <a:lvl7pPr lvl="6" algn="r">
              <a:buNone/>
              <a:defRPr sz="1600">
                <a:solidFill>
                  <a:schemeClr val="dk2"/>
                </a:solidFill>
              </a:defRPr>
            </a:lvl7pPr>
            <a:lvl8pPr lvl="7" algn="r">
              <a:buNone/>
              <a:defRPr sz="1600">
                <a:solidFill>
                  <a:schemeClr val="dk2"/>
                </a:solidFill>
              </a:defRPr>
            </a:lvl8pPr>
            <a:lvl9pPr lvl="8" algn="r">
              <a:buNone/>
              <a:defRPr sz="16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/15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hyperlink" Target="http://asp.net" TargetMode="External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5.png"/><Relationship Id="rId4" Type="http://schemas.openxmlformats.org/officeDocument/2006/relationships/hyperlink" Target="https://github.com/jasontaylordev/CleanArchitecture" TargetMode="External"/><Relationship Id="rId5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Relationship Id="rId5" Type="http://schemas.openxmlformats.org/officeDocument/2006/relationships/image" Target="../media/image7.png"/><Relationship Id="rId6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6.png"/><Relationship Id="rId4" Type="http://schemas.openxmlformats.org/officeDocument/2006/relationships/image" Target="../media/image24.png"/><Relationship Id="rId9" Type="http://schemas.openxmlformats.org/officeDocument/2006/relationships/image" Target="../media/image14.png"/><Relationship Id="rId5" Type="http://schemas.openxmlformats.org/officeDocument/2006/relationships/image" Target="../media/image13.png"/><Relationship Id="rId6" Type="http://schemas.openxmlformats.org/officeDocument/2006/relationships/image" Target="../media/image3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Relationship Id="rId4" Type="http://schemas.openxmlformats.org/officeDocument/2006/relationships/image" Target="../media/image38.png"/><Relationship Id="rId9" Type="http://schemas.openxmlformats.org/officeDocument/2006/relationships/image" Target="../media/image17.png"/><Relationship Id="rId5" Type="http://schemas.openxmlformats.org/officeDocument/2006/relationships/image" Target="../media/image25.png"/><Relationship Id="rId6" Type="http://schemas.openxmlformats.org/officeDocument/2006/relationships/image" Target="../media/image23.png"/><Relationship Id="rId7" Type="http://schemas.openxmlformats.org/officeDocument/2006/relationships/image" Target="../media/image34.png"/><Relationship Id="rId8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7.png"/><Relationship Id="rId4" Type="http://schemas.openxmlformats.org/officeDocument/2006/relationships/image" Target="../media/image19.png"/><Relationship Id="rId5" Type="http://schemas.openxmlformats.org/officeDocument/2006/relationships/image" Target="../media/image27.png"/><Relationship Id="rId6" Type="http://schemas.openxmlformats.org/officeDocument/2006/relationships/image" Target="../media/image26.png"/><Relationship Id="rId7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29.png"/><Relationship Id="rId6" Type="http://schemas.openxmlformats.org/officeDocument/2006/relationships/image" Target="../media/image2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4" name="Google Shape;7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68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/>
          <p:nvPr/>
        </p:nvSpPr>
        <p:spPr>
          <a:xfrm>
            <a:off x="403975" y="1635000"/>
            <a:ext cx="8465700" cy="28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Jegy- és bérletkezelő platform tervezése és megvalósítása edzőtermek számára</a:t>
            </a:r>
            <a:endParaRPr b="0" i="0" sz="4450" u="none" cap="none" strike="noStrike"/>
          </a:p>
        </p:txBody>
      </p:sp>
      <p:sp>
        <p:nvSpPr>
          <p:cNvPr id="76" name="Google Shape;76;p16"/>
          <p:cNvSpPr/>
          <p:nvPr/>
        </p:nvSpPr>
        <p:spPr>
          <a:xfrm>
            <a:off x="460690" y="5094386"/>
            <a:ext cx="75564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Készítette: </a:t>
            </a:r>
            <a:r>
              <a:rPr b="1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Maidics Dávid</a:t>
            </a:r>
            <a:endParaRPr b="0" i="0" sz="1750" u="none" cap="none" strike="noStrike"/>
          </a:p>
        </p:txBody>
      </p:sp>
      <p:sp>
        <p:nvSpPr>
          <p:cNvPr id="77" name="Google Shape;77;p16"/>
          <p:cNvSpPr/>
          <p:nvPr/>
        </p:nvSpPr>
        <p:spPr>
          <a:xfrm>
            <a:off x="403965" y="5712439"/>
            <a:ext cx="75564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Témavezető: </a:t>
            </a:r>
            <a:r>
              <a:rPr b="1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Pekárdy Milán Péter</a:t>
            </a:r>
            <a:endParaRPr b="0" i="0" sz="1750" u="none" cap="none" strike="noStrike"/>
          </a:p>
        </p:txBody>
      </p:sp>
      <p:sp>
        <p:nvSpPr>
          <p:cNvPr id="78" name="Google Shape;78;p16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/15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/>
          <p:nvPr/>
        </p:nvSpPr>
        <p:spPr>
          <a:xfrm>
            <a:off x="793790" y="1899880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Kiindulási probléma</a:t>
            </a:r>
            <a:endParaRPr b="0" i="0" sz="4450" u="none" cap="none" strike="noStrike"/>
          </a:p>
        </p:txBody>
      </p:sp>
      <p:sp>
        <p:nvSpPr>
          <p:cNvPr id="85" name="Google Shape;85;p17"/>
          <p:cNvSpPr/>
          <p:nvPr/>
        </p:nvSpPr>
        <p:spPr>
          <a:xfrm>
            <a:off x="793790" y="2948821"/>
            <a:ext cx="1304282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Sok edzőterem még papír alapú bérleteket használ (például a Brick Zone esetében).</a:t>
            </a:r>
            <a:endParaRPr b="0" i="0" sz="2200" u="none" cap="none" strike="noStrike"/>
          </a:p>
        </p:txBody>
      </p:sp>
      <p:pic>
        <p:nvPicPr>
          <p:cNvPr descr="preencoded.png" id="86" name="Google Shape;8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3657481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/>
          <p:nvPr/>
        </p:nvSpPr>
        <p:spPr>
          <a:xfrm>
            <a:off x="1644253" y="365748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Elszakadhat</a:t>
            </a:r>
            <a:endParaRPr b="0" i="0" sz="2200" u="none" cap="none" strike="noStrike"/>
          </a:p>
        </p:txBody>
      </p:sp>
      <p:pic>
        <p:nvPicPr>
          <p:cNvPr descr="preencoded.png" id="88" name="Google Shape;8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5893" y="3657481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7"/>
          <p:cNvSpPr/>
          <p:nvPr/>
        </p:nvSpPr>
        <p:spPr>
          <a:xfrm>
            <a:off x="6086356" y="365748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Kophat</a:t>
            </a:r>
            <a:endParaRPr b="0" i="0" sz="2200" u="none" cap="none" strike="noStrike"/>
          </a:p>
        </p:txBody>
      </p:sp>
      <p:pic>
        <p:nvPicPr>
          <p:cNvPr descr="preencoded.png" id="90" name="Google Shape;9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77995" y="3657481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7"/>
          <p:cNvSpPr/>
          <p:nvPr/>
        </p:nvSpPr>
        <p:spPr>
          <a:xfrm>
            <a:off x="10528459" y="365748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Elveszhet</a:t>
            </a:r>
            <a:endParaRPr b="0" i="0" sz="2200" u="none" cap="none" strike="noStrike"/>
          </a:p>
        </p:txBody>
      </p:sp>
      <p:sp>
        <p:nvSpPr>
          <p:cNvPr id="92" name="Google Shape;92;p17"/>
          <p:cNvSpPr/>
          <p:nvPr/>
        </p:nvSpPr>
        <p:spPr>
          <a:xfrm>
            <a:off x="793790" y="4592988"/>
            <a:ext cx="13042821" cy="35957"/>
          </a:xfrm>
          <a:prstGeom prst="rect">
            <a:avLst/>
          </a:prstGeom>
          <a:solidFill>
            <a:srgbClr val="000000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7"/>
          <p:cNvSpPr/>
          <p:nvPr/>
        </p:nvSpPr>
        <p:spPr>
          <a:xfrm>
            <a:off x="793790" y="4969073"/>
            <a:ext cx="4536519" cy="566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50"/>
              <a:buFont typeface="Inter"/>
              <a:buNone/>
            </a:pPr>
            <a:r>
              <a:rPr b="1" i="0" lang="en-US" sz="35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Megoldás</a:t>
            </a:r>
            <a:endParaRPr b="0" i="0" sz="3550" u="none" cap="none" strike="noStrike"/>
          </a:p>
        </p:txBody>
      </p:sp>
      <p:sp>
        <p:nvSpPr>
          <p:cNvPr id="94" name="Google Shape;94;p17"/>
          <p:cNvSpPr/>
          <p:nvPr/>
        </p:nvSpPr>
        <p:spPr>
          <a:xfrm>
            <a:off x="793790" y="5876211"/>
            <a:ext cx="13042821" cy="45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36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Fizetési közvetítő platform, amely kezeli a bérleteket és jegyeket.</a:t>
            </a:r>
            <a:endParaRPr b="0" i="0" sz="2200" u="none" cap="none" strike="noStrike"/>
          </a:p>
        </p:txBody>
      </p:sp>
      <p:sp>
        <p:nvSpPr>
          <p:cNvPr id="95" name="Google Shape;95;p17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/15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/>
          <p:nvPr/>
        </p:nvSpPr>
        <p:spPr>
          <a:xfrm>
            <a:off x="793790" y="1432322"/>
            <a:ext cx="6916698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Felhasznált technológiák</a:t>
            </a:r>
            <a:endParaRPr b="0" i="0" sz="4450" u="none" cap="none" strike="noStrike"/>
          </a:p>
        </p:txBody>
      </p:sp>
      <p:sp>
        <p:nvSpPr>
          <p:cNvPr id="102" name="Google Shape;102;p18"/>
          <p:cNvSpPr/>
          <p:nvPr/>
        </p:nvSpPr>
        <p:spPr>
          <a:xfrm>
            <a:off x="793790" y="2594729"/>
            <a:ext cx="4196358" cy="4202549"/>
          </a:xfrm>
          <a:prstGeom prst="roundRect">
            <a:avLst>
              <a:gd fmla="val 2270" name="adj"/>
            </a:avLst>
          </a:prstGeom>
          <a:solidFill>
            <a:srgbClr val="F2EEEE"/>
          </a:solidFill>
          <a:ln cap="flat" cmpd="sng" w="9525">
            <a:solidFill>
              <a:srgbClr val="D8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8"/>
          <p:cNvSpPr/>
          <p:nvPr/>
        </p:nvSpPr>
        <p:spPr>
          <a:xfrm>
            <a:off x="1028224" y="2829163"/>
            <a:ext cx="680442" cy="680442"/>
          </a:xfrm>
          <a:prstGeom prst="roundRect">
            <a:avLst>
              <a:gd fmla="val 13436980" name="adj"/>
            </a:avLst>
          </a:prstGeom>
          <a:solidFill>
            <a:srgbClr val="3C49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4" name="Google Shape;10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5390" y="3016210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/>
          <p:nvPr/>
        </p:nvSpPr>
        <p:spPr>
          <a:xfrm>
            <a:off x="1028224" y="373641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49DD"/>
              </a:buClr>
              <a:buSzPts val="2200"/>
              <a:buFont typeface="Inter"/>
              <a:buNone/>
            </a:pPr>
            <a:r>
              <a:rPr b="1" lang="en-US" sz="2200">
                <a:uFill>
                  <a:noFill/>
                </a:uFill>
                <a:latin typeface="Inter"/>
                <a:ea typeface="Inter"/>
                <a:cs typeface="Inter"/>
                <a:sym typeface="Inter"/>
                <a:hlinkClick r:id="rId4"/>
              </a:rPr>
              <a:t>ASP.NET</a:t>
            </a:r>
            <a:r>
              <a:rPr b="1" i="0" lang="en-US" sz="2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Backend</a:t>
            </a:r>
            <a:endParaRPr b="0" i="0" sz="2200" u="none" cap="none" strike="noStrike"/>
          </a:p>
        </p:txBody>
      </p:sp>
      <p:sp>
        <p:nvSpPr>
          <p:cNvPr id="106" name="Google Shape;106;p18"/>
          <p:cNvSpPr/>
          <p:nvPr/>
        </p:nvSpPr>
        <p:spPr>
          <a:xfrm>
            <a:off x="1028224" y="4226838"/>
            <a:ext cx="3727490" cy="23360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Gyors és biztonságos 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Megbízható platform nagy léptékű, vállalati architektúrákhoz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Megbízható fizetési platformok integrációja támogatott</a:t>
            </a:r>
            <a:endParaRPr b="0" i="0" sz="1750" u="none" cap="none" strike="noStrike"/>
          </a:p>
        </p:txBody>
      </p:sp>
      <p:sp>
        <p:nvSpPr>
          <p:cNvPr id="107" name="Google Shape;107;p18"/>
          <p:cNvSpPr/>
          <p:nvPr/>
        </p:nvSpPr>
        <p:spPr>
          <a:xfrm>
            <a:off x="5216962" y="2594729"/>
            <a:ext cx="4196358" cy="4202549"/>
          </a:xfrm>
          <a:prstGeom prst="roundRect">
            <a:avLst>
              <a:gd fmla="val 2270" name="adj"/>
            </a:avLst>
          </a:prstGeom>
          <a:solidFill>
            <a:srgbClr val="F2EEEE"/>
          </a:solidFill>
          <a:ln cap="flat" cmpd="sng" w="9525">
            <a:solidFill>
              <a:srgbClr val="D8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8"/>
          <p:cNvSpPr/>
          <p:nvPr/>
        </p:nvSpPr>
        <p:spPr>
          <a:xfrm>
            <a:off x="5451396" y="2829163"/>
            <a:ext cx="680442" cy="680442"/>
          </a:xfrm>
          <a:prstGeom prst="roundRect">
            <a:avLst>
              <a:gd fmla="val 13436980" name="adj"/>
            </a:avLst>
          </a:prstGeom>
          <a:solidFill>
            <a:srgbClr val="3C49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9" name="Google Shape;10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38562" y="3016210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8"/>
          <p:cNvSpPr/>
          <p:nvPr/>
        </p:nvSpPr>
        <p:spPr>
          <a:xfrm>
            <a:off x="5451396" y="373641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SQL Adatbázis</a:t>
            </a:r>
            <a:endParaRPr b="0" i="0" sz="2200" u="none" cap="none" strike="noStrike"/>
          </a:p>
        </p:txBody>
      </p:sp>
      <p:sp>
        <p:nvSpPr>
          <p:cNvPr id="111" name="Google Shape;111;p18"/>
          <p:cNvSpPr/>
          <p:nvPr/>
        </p:nvSpPr>
        <p:spPr>
          <a:xfrm>
            <a:off x="5451396" y="4226838"/>
            <a:ext cx="3727490" cy="1168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Relációs adatbázis-kezelés strukturált adattárolás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Hatékony lekérdezések</a:t>
            </a:r>
            <a:endParaRPr b="0" i="0" sz="1750" u="none" cap="none" strike="noStrike"/>
          </a:p>
        </p:txBody>
      </p:sp>
      <p:sp>
        <p:nvSpPr>
          <p:cNvPr id="112" name="Google Shape;112;p18"/>
          <p:cNvSpPr/>
          <p:nvPr/>
        </p:nvSpPr>
        <p:spPr>
          <a:xfrm>
            <a:off x="9640133" y="2594729"/>
            <a:ext cx="4196358" cy="4202549"/>
          </a:xfrm>
          <a:prstGeom prst="roundRect">
            <a:avLst>
              <a:gd fmla="val 2270" name="adj"/>
            </a:avLst>
          </a:prstGeom>
          <a:solidFill>
            <a:srgbClr val="F2EEEE"/>
          </a:solidFill>
          <a:ln cap="flat" cmpd="sng" w="9525">
            <a:solidFill>
              <a:srgbClr val="D8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8"/>
          <p:cNvSpPr/>
          <p:nvPr/>
        </p:nvSpPr>
        <p:spPr>
          <a:xfrm>
            <a:off x="9874568" y="2829163"/>
            <a:ext cx="680442" cy="680442"/>
          </a:xfrm>
          <a:prstGeom prst="roundRect">
            <a:avLst>
              <a:gd fmla="val 13436980" name="adj"/>
            </a:avLst>
          </a:prstGeom>
          <a:solidFill>
            <a:srgbClr val="3C49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4" name="Google Shape;11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61734" y="3016210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8"/>
          <p:cNvSpPr/>
          <p:nvPr/>
        </p:nvSpPr>
        <p:spPr>
          <a:xfrm>
            <a:off x="9874568" y="3736419"/>
            <a:ext cx="3727490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TypeScript/React Frontend</a:t>
            </a:r>
            <a:endParaRPr b="0" i="0" sz="2200" u="none" cap="none" strike="noStrike"/>
          </a:p>
        </p:txBody>
      </p:sp>
      <p:sp>
        <p:nvSpPr>
          <p:cNvPr id="116" name="Google Shape;116;p18"/>
          <p:cNvSpPr/>
          <p:nvPr/>
        </p:nvSpPr>
        <p:spPr>
          <a:xfrm>
            <a:off x="9874568" y="4581168"/>
            <a:ext cx="3727490" cy="1247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Szép, reszponzív megjelenés 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Nagy közösség 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Modern API-k</a:t>
            </a:r>
            <a:endParaRPr b="0" i="0" sz="1750" u="none" cap="none" strike="noStrike"/>
          </a:p>
        </p:txBody>
      </p:sp>
      <p:sp>
        <p:nvSpPr>
          <p:cNvPr id="117" name="Google Shape;117;p18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/15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3" name="Google Shape;12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68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9"/>
          <p:cNvSpPr/>
          <p:nvPr/>
        </p:nvSpPr>
        <p:spPr>
          <a:xfrm>
            <a:off x="793790" y="1158716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Backend</a:t>
            </a:r>
            <a:endParaRPr b="0" i="0" sz="4450" u="none" cap="none" strike="noStrike"/>
          </a:p>
        </p:txBody>
      </p:sp>
      <p:sp>
        <p:nvSpPr>
          <p:cNvPr id="125" name="Google Shape;125;p19"/>
          <p:cNvSpPr/>
          <p:nvPr/>
        </p:nvSpPr>
        <p:spPr>
          <a:xfrm>
            <a:off x="793790" y="1958221"/>
            <a:ext cx="3402330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Inter"/>
              <a:buNone/>
            </a:pPr>
            <a:r>
              <a:rPr b="1" i="0" lang="en-US" sz="2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Clean Architecture</a:t>
            </a:r>
            <a:endParaRPr b="0" i="0" sz="2650" u="none" cap="none" strike="noStrike"/>
          </a:p>
        </p:txBody>
      </p:sp>
      <p:sp>
        <p:nvSpPr>
          <p:cNvPr id="126" name="Google Shape;126;p19"/>
          <p:cNvSpPr/>
          <p:nvPr/>
        </p:nvSpPr>
        <p:spPr>
          <a:xfrm>
            <a:off x="793790" y="2723674"/>
            <a:ext cx="7556421" cy="1689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Bővíthetőség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Karbantarthatóság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Tesztelhetőség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Framework független</a:t>
            </a:r>
            <a:endParaRPr b="0" i="0" sz="1750" u="none" cap="none" strike="noStrike"/>
          </a:p>
        </p:txBody>
      </p:sp>
      <p:pic>
        <p:nvPicPr>
          <p:cNvPr descr="preencoded.png" id="127" name="Google Shape;127;p19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790" y="5213747"/>
            <a:ext cx="7556421" cy="1857018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9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/15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/>
          <p:nvPr/>
        </p:nvSpPr>
        <p:spPr>
          <a:xfrm>
            <a:off x="749379" y="597932"/>
            <a:ext cx="5085755" cy="6357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Inter"/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Domain</a:t>
            </a:r>
            <a:endParaRPr b="0" i="0" sz="4000" u="none" cap="none" strike="noStrike"/>
          </a:p>
        </p:txBody>
      </p:sp>
      <p:sp>
        <p:nvSpPr>
          <p:cNvPr id="135" name="Google Shape;135;p20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/15</a:t>
            </a:r>
            <a:endParaRPr/>
          </a:p>
        </p:txBody>
      </p:sp>
      <p:pic>
        <p:nvPicPr>
          <p:cNvPr id="136" name="Google Shape;136;p20" title="er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550" y="1463250"/>
            <a:ext cx="13268500" cy="601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/>
          <p:nvPr/>
        </p:nvSpPr>
        <p:spPr>
          <a:xfrm>
            <a:off x="793790" y="1240869"/>
            <a:ext cx="5103600" cy="6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Inter"/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Domain</a:t>
            </a:r>
            <a:endParaRPr b="0" i="0" sz="4000" u="none" cap="none" strike="noStrike"/>
          </a:p>
        </p:txBody>
      </p:sp>
      <p:pic>
        <p:nvPicPr>
          <p:cNvPr descr="preencoded.png" id="143" name="Google Shape;14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7430" y="2246233"/>
            <a:ext cx="1614011" cy="114740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1"/>
          <p:cNvSpPr/>
          <p:nvPr/>
        </p:nvSpPr>
        <p:spPr>
          <a:xfrm>
            <a:off x="3910846" y="2782014"/>
            <a:ext cx="287060" cy="358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11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Inter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2250" u="none" cap="none" strike="noStrike"/>
          </a:p>
        </p:txBody>
      </p:sp>
      <p:sp>
        <p:nvSpPr>
          <p:cNvPr id="145" name="Google Shape;145;p21"/>
          <p:cNvSpPr/>
          <p:nvPr/>
        </p:nvSpPr>
        <p:spPr>
          <a:xfrm>
            <a:off x="5065514" y="2450306"/>
            <a:ext cx="1519238" cy="318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Inter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AppAdmin</a:t>
            </a:r>
            <a:endParaRPr b="0" i="0" sz="2000" u="none" cap="none" strike="noStrike"/>
          </a:p>
        </p:txBody>
      </p:sp>
      <p:sp>
        <p:nvSpPr>
          <p:cNvPr id="146" name="Google Shape;146;p21"/>
          <p:cNvSpPr/>
          <p:nvPr/>
        </p:nvSpPr>
        <p:spPr>
          <a:xfrm>
            <a:off x="5065514" y="2879288"/>
            <a:ext cx="1519238" cy="310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Kéréseket kezel</a:t>
            </a:r>
            <a:endParaRPr b="0" i="0" sz="1600" u="none" cap="none" strike="noStrike"/>
          </a:p>
        </p:txBody>
      </p:sp>
      <p:sp>
        <p:nvSpPr>
          <p:cNvPr id="147" name="Google Shape;147;p21"/>
          <p:cNvSpPr/>
          <p:nvPr/>
        </p:nvSpPr>
        <p:spPr>
          <a:xfrm>
            <a:off x="4912400" y="3409593"/>
            <a:ext cx="8873252" cy="11430"/>
          </a:xfrm>
          <a:prstGeom prst="roundRect">
            <a:avLst>
              <a:gd fmla="val 750139" name="adj"/>
            </a:avLst>
          </a:prstGeom>
          <a:solidFill>
            <a:srgbClr val="3C49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8" name="Google Shape;14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40424" y="3444597"/>
            <a:ext cx="3228022" cy="114740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1"/>
          <p:cNvSpPr/>
          <p:nvPr/>
        </p:nvSpPr>
        <p:spPr>
          <a:xfrm>
            <a:off x="3910846" y="3838932"/>
            <a:ext cx="287060" cy="358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11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Inter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2250" u="none" cap="none" strike="noStrike"/>
          </a:p>
        </p:txBody>
      </p:sp>
      <p:sp>
        <p:nvSpPr>
          <p:cNvPr id="150" name="Google Shape;150;p21"/>
          <p:cNvSpPr/>
          <p:nvPr/>
        </p:nvSpPr>
        <p:spPr>
          <a:xfrm>
            <a:off x="5872520" y="3648670"/>
            <a:ext cx="2722840" cy="318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Inter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GymAdmin/ GymStaff</a:t>
            </a:r>
            <a:endParaRPr b="0" i="0" sz="2000" u="none" cap="none" strike="noStrike"/>
          </a:p>
        </p:txBody>
      </p:sp>
      <p:sp>
        <p:nvSpPr>
          <p:cNvPr id="151" name="Google Shape;151;p21"/>
          <p:cNvSpPr/>
          <p:nvPr/>
        </p:nvSpPr>
        <p:spPr>
          <a:xfrm>
            <a:off x="5872520" y="4077653"/>
            <a:ext cx="2722840" cy="310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Edzőtermet kezelnek</a:t>
            </a:r>
            <a:endParaRPr b="0" i="0" sz="1600" u="none" cap="none" strike="noStrike"/>
          </a:p>
        </p:txBody>
      </p:sp>
      <p:sp>
        <p:nvSpPr>
          <p:cNvPr id="152" name="Google Shape;152;p21"/>
          <p:cNvSpPr/>
          <p:nvPr/>
        </p:nvSpPr>
        <p:spPr>
          <a:xfrm>
            <a:off x="5719405" y="4607957"/>
            <a:ext cx="8066246" cy="11430"/>
          </a:xfrm>
          <a:prstGeom prst="roundRect">
            <a:avLst>
              <a:gd fmla="val 750139" name="adj"/>
            </a:avLst>
          </a:prstGeom>
          <a:solidFill>
            <a:srgbClr val="3C49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3" name="Google Shape;15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33418" y="4642961"/>
            <a:ext cx="4842034" cy="114740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1"/>
          <p:cNvSpPr/>
          <p:nvPr/>
        </p:nvSpPr>
        <p:spPr>
          <a:xfrm>
            <a:off x="3910846" y="5037296"/>
            <a:ext cx="287060" cy="358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11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Inter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2250" u="none" cap="none" strike="noStrike"/>
          </a:p>
        </p:txBody>
      </p:sp>
      <p:sp>
        <p:nvSpPr>
          <p:cNvPr id="155" name="Google Shape;155;p21"/>
          <p:cNvSpPr/>
          <p:nvPr/>
        </p:nvSpPr>
        <p:spPr>
          <a:xfrm>
            <a:off x="6679525" y="4847034"/>
            <a:ext cx="2823448" cy="318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Inter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PendingGymEmployee</a:t>
            </a:r>
            <a:endParaRPr b="0" i="0" sz="2000" u="none" cap="none" strike="noStrike"/>
          </a:p>
        </p:txBody>
      </p:sp>
      <p:sp>
        <p:nvSpPr>
          <p:cNvPr id="156" name="Google Shape;156;p21"/>
          <p:cNvSpPr/>
          <p:nvPr/>
        </p:nvSpPr>
        <p:spPr>
          <a:xfrm>
            <a:off x="6679525" y="5276017"/>
            <a:ext cx="6096833" cy="310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Edzőtermet regisztrálhat</a:t>
            </a:r>
            <a:r>
              <a:rPr b="0" i="0" lang="en-US" sz="1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/ </a:t>
            </a:r>
            <a:r>
              <a:rPr lang="en-US" sz="1600">
                <a:latin typeface="Inter"/>
                <a:ea typeface="Inter"/>
                <a:cs typeface="Inter"/>
                <a:sym typeface="Inter"/>
              </a:rPr>
              <a:t>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dzőtermi alkalmazott</a:t>
            </a:r>
            <a:r>
              <a:rPr lang="en-US" sz="1600">
                <a:latin typeface="Inter"/>
                <a:ea typeface="Inter"/>
                <a:cs typeface="Inter"/>
                <a:sym typeface="Inter"/>
              </a:rPr>
              <a:t> lehet</a:t>
            </a:r>
            <a:endParaRPr b="0" i="0" sz="1600" u="none" cap="none" strike="noStrike"/>
          </a:p>
        </p:txBody>
      </p:sp>
      <p:sp>
        <p:nvSpPr>
          <p:cNvPr id="157" name="Google Shape;157;p21"/>
          <p:cNvSpPr/>
          <p:nvPr/>
        </p:nvSpPr>
        <p:spPr>
          <a:xfrm>
            <a:off x="6526411" y="5806321"/>
            <a:ext cx="7259241" cy="11430"/>
          </a:xfrm>
          <a:prstGeom prst="roundRect">
            <a:avLst>
              <a:gd fmla="val 750139" name="adj"/>
            </a:avLst>
          </a:prstGeom>
          <a:solidFill>
            <a:srgbClr val="3C49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8" name="Google Shape;158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6294" y="5841325"/>
            <a:ext cx="6456164" cy="114740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1"/>
          <p:cNvSpPr/>
          <p:nvPr/>
        </p:nvSpPr>
        <p:spPr>
          <a:xfrm>
            <a:off x="3910727" y="6235660"/>
            <a:ext cx="287060" cy="358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11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Inter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2250" u="none" cap="none" strike="noStrike"/>
          </a:p>
        </p:txBody>
      </p:sp>
      <p:sp>
        <p:nvSpPr>
          <p:cNvPr id="160" name="Google Shape;160;p21"/>
          <p:cNvSpPr/>
          <p:nvPr/>
        </p:nvSpPr>
        <p:spPr>
          <a:xfrm>
            <a:off x="7486531" y="6045398"/>
            <a:ext cx="1336596" cy="318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Inter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User</a:t>
            </a:r>
            <a:endParaRPr b="0" i="0" sz="2000" u="none" cap="none" strike="noStrike"/>
          </a:p>
        </p:txBody>
      </p:sp>
      <p:sp>
        <p:nvSpPr>
          <p:cNvPr id="161" name="Google Shape;161;p21"/>
          <p:cNvSpPr/>
          <p:nvPr/>
        </p:nvSpPr>
        <p:spPr>
          <a:xfrm>
            <a:off x="7486531" y="6474381"/>
            <a:ext cx="1336596" cy="310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Edzőtermi tag</a:t>
            </a:r>
            <a:endParaRPr b="0" i="0" sz="1600" u="none" cap="none" strike="noStrike"/>
          </a:p>
        </p:txBody>
      </p:sp>
      <p:sp>
        <p:nvSpPr>
          <p:cNvPr id="162" name="Google Shape;162;p21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/15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2"/>
          <p:cNvSpPr/>
          <p:nvPr/>
        </p:nvSpPr>
        <p:spPr>
          <a:xfrm>
            <a:off x="793790" y="1151334"/>
            <a:ext cx="4069199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Application</a:t>
            </a:r>
            <a:endParaRPr b="0" i="0" sz="4450" u="none" cap="none" strike="noStrike"/>
          </a:p>
        </p:txBody>
      </p:sp>
      <p:sp>
        <p:nvSpPr>
          <p:cNvPr id="169" name="Google Shape;169;p22"/>
          <p:cNvSpPr/>
          <p:nvPr/>
        </p:nvSpPr>
        <p:spPr>
          <a:xfrm>
            <a:off x="5424011" y="1151334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Infrastructure</a:t>
            </a:r>
            <a:endParaRPr b="0" i="0" sz="4450" u="none" cap="none" strike="noStrike"/>
          </a:p>
        </p:txBody>
      </p:sp>
      <p:pic>
        <p:nvPicPr>
          <p:cNvPr descr="preencoded.png" id="170" name="Google Shape;17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597229"/>
            <a:ext cx="8963858" cy="4452699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2"/>
          <p:cNvSpPr/>
          <p:nvPr/>
        </p:nvSpPr>
        <p:spPr>
          <a:xfrm>
            <a:off x="7407902" y="3674975"/>
            <a:ext cx="2636700" cy="6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Inter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ApplicationDbContext</a:t>
            </a:r>
            <a:endParaRPr b="0" i="0" sz="1900" u="none" cap="none" strike="noStrike"/>
          </a:p>
        </p:txBody>
      </p:sp>
      <p:pic>
        <p:nvPicPr>
          <p:cNvPr descr="preencoded.png" id="172" name="Google Shape;17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44506" y="3740338"/>
            <a:ext cx="450782" cy="450782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2"/>
          <p:cNvSpPr/>
          <p:nvPr/>
        </p:nvSpPr>
        <p:spPr>
          <a:xfrm>
            <a:off x="7407900" y="5352025"/>
            <a:ext cx="2754300" cy="6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Inter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StripePaymentService</a:t>
            </a:r>
            <a:endParaRPr b="0" i="0" sz="1900" u="none" cap="none" strike="noStrike"/>
          </a:p>
        </p:txBody>
      </p:sp>
      <p:pic>
        <p:nvPicPr>
          <p:cNvPr descr="preencoded.png" id="174" name="Google Shape;17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44506" y="5417387"/>
            <a:ext cx="450782" cy="450781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2"/>
          <p:cNvSpPr/>
          <p:nvPr/>
        </p:nvSpPr>
        <p:spPr>
          <a:xfrm>
            <a:off x="1006791" y="5504163"/>
            <a:ext cx="2136705" cy="304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Inter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IPaymentService</a:t>
            </a:r>
            <a:endParaRPr b="0" i="0" sz="1900" u="none" cap="none" strike="noStrike"/>
          </a:p>
        </p:txBody>
      </p:sp>
      <p:pic>
        <p:nvPicPr>
          <p:cNvPr descr="preencoded.png" id="176" name="Google Shape;176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49567" y="5525574"/>
            <a:ext cx="450782" cy="4507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7" name="Google Shape;177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050412" y="3848667"/>
            <a:ext cx="450782" cy="450781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2"/>
          <p:cNvSpPr/>
          <p:nvPr/>
        </p:nvSpPr>
        <p:spPr>
          <a:xfrm>
            <a:off x="440925" y="3670600"/>
            <a:ext cx="2703600" cy="6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Inter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IApplicationDbContext</a:t>
            </a:r>
            <a:endParaRPr b="0" i="0" sz="1900" u="none" cap="none" strike="noStrike"/>
          </a:p>
        </p:txBody>
      </p:sp>
      <p:sp>
        <p:nvSpPr>
          <p:cNvPr id="179" name="Google Shape;179;p22"/>
          <p:cNvSpPr/>
          <p:nvPr/>
        </p:nvSpPr>
        <p:spPr>
          <a:xfrm>
            <a:off x="10318671" y="2546152"/>
            <a:ext cx="352544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  <p:pic>
        <p:nvPicPr>
          <p:cNvPr descr="preencoded.png" id="180" name="Google Shape;180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279709" y="3097530"/>
            <a:ext cx="2028825" cy="17364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1" name="Google Shape;181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996221" y="5201838"/>
            <a:ext cx="2595801" cy="10982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2" name="Google Shape;182;p22"/>
          <p:cNvCxnSpPr/>
          <p:nvPr/>
        </p:nvCxnSpPr>
        <p:spPr>
          <a:xfrm>
            <a:off x="5124900" y="1023650"/>
            <a:ext cx="0" cy="990900"/>
          </a:xfrm>
          <a:prstGeom prst="straightConnector1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3" name="Google Shape;183;p22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/15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3"/>
          <p:cNvSpPr/>
          <p:nvPr/>
        </p:nvSpPr>
        <p:spPr>
          <a:xfrm>
            <a:off x="743069" y="583883"/>
            <a:ext cx="5308044" cy="663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50"/>
              <a:buFont typeface="Inter"/>
              <a:buNone/>
            </a:pPr>
            <a:r>
              <a:rPr b="1" i="0" lang="en-US" sz="41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Web</a:t>
            </a:r>
            <a:endParaRPr b="0" i="0" sz="4150" u="none" cap="none" strike="noStrike"/>
          </a:p>
        </p:txBody>
      </p:sp>
      <p:pic>
        <p:nvPicPr>
          <p:cNvPr descr="preencoded.png" id="190" name="Google Shape;19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3069" y="1545312"/>
            <a:ext cx="13144260" cy="617267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3"/>
          <p:cNvSpPr/>
          <p:nvPr/>
        </p:nvSpPr>
        <p:spPr>
          <a:xfrm>
            <a:off x="1692501" y="6362087"/>
            <a:ext cx="2898898" cy="360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Inter"/>
              <a:buNone/>
            </a:pPr>
            <a:r>
              <a:rPr b="1" i="0" lang="en-US" sz="2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Minimal API végpont</a:t>
            </a:r>
            <a:endParaRPr b="0" i="0" sz="2250" u="none" cap="none" strike="noStrike"/>
          </a:p>
        </p:txBody>
      </p:sp>
      <p:sp>
        <p:nvSpPr>
          <p:cNvPr id="192" name="Google Shape;192;p23"/>
          <p:cNvSpPr/>
          <p:nvPr/>
        </p:nvSpPr>
        <p:spPr>
          <a:xfrm>
            <a:off x="10128627" y="5031406"/>
            <a:ext cx="1588445" cy="346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Inter"/>
              <a:buNone/>
            </a:pPr>
            <a:r>
              <a:rPr b="1" i="0" lang="en-US" sz="2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Lokalizáció</a:t>
            </a:r>
            <a:endParaRPr b="0" i="0" sz="2250" u="none" cap="none" strike="noStrike"/>
          </a:p>
        </p:txBody>
      </p:sp>
      <p:sp>
        <p:nvSpPr>
          <p:cNvPr id="193" name="Google Shape;193;p23"/>
          <p:cNvSpPr/>
          <p:nvPr/>
        </p:nvSpPr>
        <p:spPr>
          <a:xfrm>
            <a:off x="10128627" y="5482845"/>
            <a:ext cx="3448074" cy="557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4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Kiolvassa és beállítja a preferált nyelvet</a:t>
            </a:r>
            <a:endParaRPr b="0" i="0" sz="1800" u="none" cap="none" strike="noStrike"/>
          </a:p>
        </p:txBody>
      </p:sp>
      <p:sp>
        <p:nvSpPr>
          <p:cNvPr id="194" name="Google Shape;194;p23"/>
          <p:cNvSpPr/>
          <p:nvPr/>
        </p:nvSpPr>
        <p:spPr>
          <a:xfrm>
            <a:off x="1707121" y="4109103"/>
            <a:ext cx="2884077" cy="360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Inter"/>
              <a:buNone/>
            </a:pPr>
            <a:r>
              <a:rPr b="1" i="0" lang="en-US" sz="2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Autorizáció</a:t>
            </a:r>
            <a:endParaRPr b="0" i="0" sz="2250" u="none" cap="none" strike="noStrike"/>
          </a:p>
        </p:txBody>
      </p:sp>
      <p:sp>
        <p:nvSpPr>
          <p:cNvPr id="195" name="Google Shape;195;p23"/>
          <p:cNvSpPr/>
          <p:nvPr/>
        </p:nvSpPr>
        <p:spPr>
          <a:xfrm>
            <a:off x="1053397" y="4572157"/>
            <a:ext cx="3537801" cy="557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94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Ellenőrzi a felhasználó szerepkörét</a:t>
            </a:r>
            <a:endParaRPr b="0" i="0" sz="1800" u="none" cap="none" strike="noStrike"/>
          </a:p>
        </p:txBody>
      </p:sp>
      <p:sp>
        <p:nvSpPr>
          <p:cNvPr id="196" name="Google Shape;196;p23"/>
          <p:cNvSpPr/>
          <p:nvPr/>
        </p:nvSpPr>
        <p:spPr>
          <a:xfrm>
            <a:off x="10128627" y="3165369"/>
            <a:ext cx="2884077" cy="360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Inter"/>
              <a:buNone/>
            </a:pPr>
            <a:r>
              <a:rPr b="1" i="0" lang="en-US" sz="2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Autentikáció</a:t>
            </a:r>
            <a:endParaRPr b="0" i="0" sz="2250" u="none" cap="none" strike="noStrike"/>
          </a:p>
        </p:txBody>
      </p:sp>
      <p:sp>
        <p:nvSpPr>
          <p:cNvPr id="197" name="Google Shape;197;p23"/>
          <p:cNvSpPr/>
          <p:nvPr/>
        </p:nvSpPr>
        <p:spPr>
          <a:xfrm>
            <a:off x="10128627" y="3628423"/>
            <a:ext cx="3448074" cy="278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4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Azonosítja a felhasználót</a:t>
            </a:r>
            <a:endParaRPr b="0" i="0" sz="1800" u="none" cap="none" strike="noStrike"/>
          </a:p>
        </p:txBody>
      </p:sp>
      <p:sp>
        <p:nvSpPr>
          <p:cNvPr id="198" name="Google Shape;198;p23"/>
          <p:cNvSpPr/>
          <p:nvPr/>
        </p:nvSpPr>
        <p:spPr>
          <a:xfrm>
            <a:off x="2011151" y="2192193"/>
            <a:ext cx="2580248" cy="3460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Inter"/>
              <a:buNone/>
            </a:pPr>
            <a:r>
              <a:rPr b="1" i="0" lang="en-US" sz="2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Exception Handler</a:t>
            </a:r>
            <a:endParaRPr b="0" i="0" sz="2250" u="none" cap="none" strike="noStrike"/>
          </a:p>
        </p:txBody>
      </p:sp>
      <p:sp>
        <p:nvSpPr>
          <p:cNvPr id="199" name="Google Shape;199;p23"/>
          <p:cNvSpPr/>
          <p:nvPr/>
        </p:nvSpPr>
        <p:spPr>
          <a:xfrm>
            <a:off x="1053598" y="2643631"/>
            <a:ext cx="3537801" cy="557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94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Elfogja a kérés alatt dobott Exceptiont</a:t>
            </a:r>
            <a:endParaRPr b="0" i="0" sz="1800" u="none" cap="none" strike="noStrike"/>
          </a:p>
        </p:txBody>
      </p:sp>
      <p:sp>
        <p:nvSpPr>
          <p:cNvPr id="200" name="Google Shape;200;p23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/15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/>
          <p:nvPr/>
        </p:nvSpPr>
        <p:spPr>
          <a:xfrm>
            <a:off x="793790" y="752951"/>
            <a:ext cx="3685937" cy="460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Inter"/>
              <a:buNone/>
            </a:pPr>
            <a:r>
              <a:rPr b="1" i="0" lang="en-US" sz="2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HTTP kérés kezelés</a:t>
            </a:r>
            <a:endParaRPr b="0" i="0" sz="2900" u="none" cap="none" strike="noStrike"/>
          </a:p>
        </p:txBody>
      </p:sp>
      <p:sp>
        <p:nvSpPr>
          <p:cNvPr id="207" name="Google Shape;207;p24"/>
          <p:cNvSpPr/>
          <p:nvPr/>
        </p:nvSpPr>
        <p:spPr>
          <a:xfrm>
            <a:off x="793790" y="1251942"/>
            <a:ext cx="2948702" cy="3686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Inter"/>
              <a:buNone/>
            </a:pPr>
            <a:r>
              <a:rPr b="1" i="0" lang="en-US" sz="2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CQRS minta</a:t>
            </a:r>
            <a:endParaRPr b="0" i="0" sz="2300" u="none" cap="none" strike="noStrike"/>
          </a:p>
        </p:txBody>
      </p:sp>
      <p:pic>
        <p:nvPicPr>
          <p:cNvPr descr="preencoded.png" id="208" name="Google Shape;20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28315" y="764977"/>
            <a:ext cx="3515797" cy="13263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9" name="Google Shape;20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99184" y="2306836"/>
            <a:ext cx="8632031" cy="526542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4"/>
          <p:cNvSpPr/>
          <p:nvPr/>
        </p:nvSpPr>
        <p:spPr>
          <a:xfrm>
            <a:off x="3207026" y="2567247"/>
            <a:ext cx="1967273" cy="5241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Minimal API végpont</a:t>
            </a:r>
            <a:endParaRPr b="0" i="0" sz="1650" u="none" cap="none" strike="noStrike"/>
          </a:p>
        </p:txBody>
      </p:sp>
      <p:sp>
        <p:nvSpPr>
          <p:cNvPr id="211" name="Google Shape;211;p24"/>
          <p:cNvSpPr/>
          <p:nvPr/>
        </p:nvSpPr>
        <p:spPr>
          <a:xfrm>
            <a:off x="3207026" y="3165887"/>
            <a:ext cx="1967273" cy="432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0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Létrejön Command/Query</a:t>
            </a:r>
            <a:endParaRPr b="0" i="0" sz="1650" u="none" cap="none" strike="noStrike"/>
          </a:p>
        </p:txBody>
      </p:sp>
      <p:pic>
        <p:nvPicPr>
          <p:cNvPr descr="preencoded.png" id="212" name="Google Shape;212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63042" y="4122664"/>
            <a:ext cx="465868" cy="465868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4"/>
          <p:cNvSpPr/>
          <p:nvPr/>
        </p:nvSpPr>
        <p:spPr>
          <a:xfrm>
            <a:off x="4584976" y="5670511"/>
            <a:ext cx="1967274" cy="2620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MediatR pipeline</a:t>
            </a:r>
            <a:endParaRPr b="0" i="0" sz="1650" u="none" cap="none" strike="noStrike"/>
          </a:p>
        </p:txBody>
      </p:sp>
      <p:sp>
        <p:nvSpPr>
          <p:cNvPr id="214" name="Google Shape;214;p24"/>
          <p:cNvSpPr/>
          <p:nvPr/>
        </p:nvSpPr>
        <p:spPr>
          <a:xfrm>
            <a:off x="4584976" y="6007100"/>
            <a:ext cx="1967274" cy="432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0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Kezelést megelőző folyamatok</a:t>
            </a:r>
            <a:endParaRPr b="0" i="0" sz="1650" u="none" cap="none" strike="noStrike"/>
          </a:p>
        </p:txBody>
      </p:sp>
      <p:pic>
        <p:nvPicPr>
          <p:cNvPr descr="preencoded.png" id="215" name="Google Shape;215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25140" y="4406698"/>
            <a:ext cx="465868" cy="465868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4"/>
          <p:cNvSpPr/>
          <p:nvPr/>
        </p:nvSpPr>
        <p:spPr>
          <a:xfrm>
            <a:off x="6261373" y="2864238"/>
            <a:ext cx="2031185" cy="2620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Application Réteg</a:t>
            </a:r>
            <a:endParaRPr b="0" i="0" sz="1650" u="none" cap="none" strike="noStrike"/>
          </a:p>
        </p:txBody>
      </p:sp>
      <p:sp>
        <p:nvSpPr>
          <p:cNvPr id="217" name="Google Shape;217;p24"/>
          <p:cNvSpPr/>
          <p:nvPr/>
        </p:nvSpPr>
        <p:spPr>
          <a:xfrm>
            <a:off x="6261373" y="3200827"/>
            <a:ext cx="2031185" cy="648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0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IRequestHandler implementáció, use case feldolgozás</a:t>
            </a:r>
            <a:endParaRPr b="0" i="0" sz="1650" u="none" cap="none" strike="noStrike"/>
          </a:p>
        </p:txBody>
      </p:sp>
      <p:pic>
        <p:nvPicPr>
          <p:cNvPr descr="preencoded.png" id="218" name="Google Shape;218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97866" y="4690732"/>
            <a:ext cx="465868" cy="465868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4"/>
          <p:cNvSpPr/>
          <p:nvPr/>
        </p:nvSpPr>
        <p:spPr>
          <a:xfrm>
            <a:off x="7625057" y="6280652"/>
            <a:ext cx="1967274" cy="5241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DomainEvent rögzítés</a:t>
            </a:r>
            <a:endParaRPr b="0" i="0" sz="1650" u="none" cap="none" strike="noStrike"/>
          </a:p>
        </p:txBody>
      </p:sp>
      <p:sp>
        <p:nvSpPr>
          <p:cNvPr id="220" name="Google Shape;220;p24"/>
          <p:cNvSpPr/>
          <p:nvPr/>
        </p:nvSpPr>
        <p:spPr>
          <a:xfrm>
            <a:off x="7625057" y="6879293"/>
            <a:ext cx="1967274" cy="216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0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Inter"/>
              <a:buNone/>
            </a:pPr>
            <a:r>
              <a:rPr b="0" i="1" lang="en-US" sz="1650" u="none" cap="none" strike="noStrik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Szükség esetén</a:t>
            </a:r>
            <a:endParaRPr b="0" i="1" sz="1650" u="none" cap="none" strike="noStrike">
              <a:solidFill>
                <a:schemeClr val="dk2"/>
              </a:solidFill>
            </a:endParaRPr>
          </a:p>
        </p:txBody>
      </p:sp>
      <p:pic>
        <p:nvPicPr>
          <p:cNvPr descr="preencoded.png" id="221" name="Google Shape;221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70445" y="4974766"/>
            <a:ext cx="465869" cy="465868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4"/>
          <p:cNvSpPr/>
          <p:nvPr/>
        </p:nvSpPr>
        <p:spPr>
          <a:xfrm>
            <a:off x="9371189" y="3150601"/>
            <a:ext cx="1967273" cy="5241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DomainEvent kezelés</a:t>
            </a:r>
            <a:endParaRPr b="0" i="0" sz="1650" u="none" cap="none" strike="noStrike"/>
          </a:p>
        </p:txBody>
      </p:sp>
      <p:sp>
        <p:nvSpPr>
          <p:cNvPr id="223" name="Google Shape;223;p24"/>
          <p:cNvSpPr/>
          <p:nvPr/>
        </p:nvSpPr>
        <p:spPr>
          <a:xfrm>
            <a:off x="9371189" y="3749242"/>
            <a:ext cx="1967273" cy="648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0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EF Core interceptor publikálja az event-eket</a:t>
            </a:r>
            <a:endParaRPr b="0" i="0" sz="1650" u="none" cap="none" strike="noStrike"/>
          </a:p>
        </p:txBody>
      </p:sp>
      <p:pic>
        <p:nvPicPr>
          <p:cNvPr descr="preencoded.png" id="224" name="Google Shape;224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937801" y="5279764"/>
            <a:ext cx="465868" cy="465868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4"/>
          <p:cNvSpPr txBox="1"/>
          <p:nvPr>
            <p:ph idx="12" type="sldNum"/>
          </p:nvPr>
        </p:nvSpPr>
        <p:spPr>
          <a:xfrm>
            <a:off x="13690854" y="7599761"/>
            <a:ext cx="877800" cy="6300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/15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5"/>
          <p:cNvSpPr/>
          <p:nvPr/>
        </p:nvSpPr>
        <p:spPr>
          <a:xfrm>
            <a:off x="780693" y="613410"/>
            <a:ext cx="6273998" cy="697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Inter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Edzőterem regisztrálás</a:t>
            </a:r>
            <a:endParaRPr b="0" i="0" sz="4350" u="none" cap="none" strike="noStrike"/>
          </a:p>
        </p:txBody>
      </p:sp>
      <p:pic>
        <p:nvPicPr>
          <p:cNvPr descr="preencoded.png" id="232" name="Google Shape;23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93" y="1749266"/>
            <a:ext cx="13069014" cy="5880973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5"/>
          <p:cNvSpPr/>
          <p:nvPr/>
        </p:nvSpPr>
        <p:spPr>
          <a:xfrm>
            <a:off x="2017100" y="2105813"/>
            <a:ext cx="3764100" cy="10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PendingGymEmployee Regisztráció</a:t>
            </a:r>
            <a:endParaRPr b="0" i="0" sz="2200" u="none" cap="none" strike="noStrike"/>
          </a:p>
        </p:txBody>
      </p:sp>
      <p:pic>
        <p:nvPicPr>
          <p:cNvPr descr="preencoded.png" id="234" name="Google Shape;23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45875" y="3595710"/>
            <a:ext cx="506574" cy="506574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5"/>
          <p:cNvSpPr/>
          <p:nvPr/>
        </p:nvSpPr>
        <p:spPr>
          <a:xfrm>
            <a:off x="5011269" y="6370087"/>
            <a:ext cx="2299611" cy="706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Email cím megerősítése</a:t>
            </a:r>
            <a:endParaRPr b="0" i="0" sz="2200" u="none" cap="none" strike="noStrike"/>
          </a:p>
        </p:txBody>
      </p:sp>
      <p:pic>
        <p:nvPicPr>
          <p:cNvPr descr="preencoded.png" id="236" name="Google Shape;236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7788" y="5442938"/>
            <a:ext cx="506574" cy="506574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5"/>
          <p:cNvSpPr/>
          <p:nvPr/>
        </p:nvSpPr>
        <p:spPr>
          <a:xfrm>
            <a:off x="7248050" y="2105832"/>
            <a:ext cx="2287045" cy="706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Kérés benyújtása</a:t>
            </a:r>
            <a:endParaRPr b="0" i="0" sz="2200" u="none" cap="none" strike="noStrike"/>
          </a:p>
        </p:txBody>
      </p:sp>
      <p:pic>
        <p:nvPicPr>
          <p:cNvPr descr="preencoded.png" id="238" name="Google Shape;238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82267" y="3545445"/>
            <a:ext cx="506574" cy="506574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5"/>
          <p:cNvSpPr/>
          <p:nvPr/>
        </p:nvSpPr>
        <p:spPr>
          <a:xfrm>
            <a:off x="9509962" y="6560543"/>
            <a:ext cx="2287046" cy="706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AppAdmin elbírálja a kérést</a:t>
            </a:r>
            <a:endParaRPr b="0" i="0" sz="2200" u="none" cap="none" strike="noStrike"/>
          </a:p>
        </p:txBody>
      </p:sp>
      <p:pic>
        <p:nvPicPr>
          <p:cNvPr descr="preencoded.png" id="240" name="Google Shape;240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06481" y="5442938"/>
            <a:ext cx="506574" cy="506574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5"/>
          <p:cNvSpPr txBox="1"/>
          <p:nvPr>
            <p:ph idx="12" type="sldNum"/>
          </p:nvPr>
        </p:nvSpPr>
        <p:spPr>
          <a:xfrm>
            <a:off x="13482849" y="7599750"/>
            <a:ext cx="1085700" cy="6300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/15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6"/>
          <p:cNvSpPr/>
          <p:nvPr/>
        </p:nvSpPr>
        <p:spPr>
          <a:xfrm>
            <a:off x="793790" y="960239"/>
            <a:ext cx="8725019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Fizetés, Jegy- és Bérlet kezelés</a:t>
            </a:r>
            <a:endParaRPr b="0" i="0" sz="4450" u="none" cap="none" strike="noStrike"/>
          </a:p>
        </p:txBody>
      </p:sp>
      <p:sp>
        <p:nvSpPr>
          <p:cNvPr id="248" name="Google Shape;248;p26"/>
          <p:cNvSpPr/>
          <p:nvPr/>
        </p:nvSpPr>
        <p:spPr>
          <a:xfrm>
            <a:off x="793790" y="2122646"/>
            <a:ext cx="226814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750" u="none" cap="none" strike="noStrike"/>
          </a:p>
        </p:txBody>
      </p:sp>
      <p:sp>
        <p:nvSpPr>
          <p:cNvPr id="249" name="Google Shape;249;p26"/>
          <p:cNvSpPr/>
          <p:nvPr/>
        </p:nvSpPr>
        <p:spPr>
          <a:xfrm>
            <a:off x="793790" y="2477691"/>
            <a:ext cx="4196358" cy="30480"/>
          </a:xfrm>
          <a:prstGeom prst="rect">
            <a:avLst/>
          </a:prstGeom>
          <a:solidFill>
            <a:srgbClr val="3C49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6"/>
          <p:cNvSpPr/>
          <p:nvPr/>
        </p:nvSpPr>
        <p:spPr>
          <a:xfrm>
            <a:off x="793790" y="2651998"/>
            <a:ext cx="3727728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Fizetési profile létrehozása</a:t>
            </a:r>
            <a:endParaRPr b="0" i="0" sz="2200" u="none" cap="none" strike="noStrike"/>
          </a:p>
        </p:txBody>
      </p:sp>
      <p:sp>
        <p:nvSpPr>
          <p:cNvPr id="251" name="Google Shape;251;p26"/>
          <p:cNvSpPr/>
          <p:nvPr/>
        </p:nvSpPr>
        <p:spPr>
          <a:xfrm>
            <a:off x="793790" y="3142417"/>
            <a:ext cx="4196358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GymAdmin elvégzi a Stripe onboarding folyamatot</a:t>
            </a:r>
            <a:endParaRPr b="0" i="0" sz="1750" u="none" cap="none" strike="noStrike"/>
          </a:p>
        </p:txBody>
      </p:sp>
      <p:sp>
        <p:nvSpPr>
          <p:cNvPr id="252" name="Google Shape;252;p26"/>
          <p:cNvSpPr/>
          <p:nvPr/>
        </p:nvSpPr>
        <p:spPr>
          <a:xfrm>
            <a:off x="5216962" y="2122646"/>
            <a:ext cx="226814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1750" u="none" cap="none" strike="noStrike"/>
          </a:p>
        </p:txBody>
      </p:sp>
      <p:sp>
        <p:nvSpPr>
          <p:cNvPr id="253" name="Google Shape;253;p26"/>
          <p:cNvSpPr/>
          <p:nvPr/>
        </p:nvSpPr>
        <p:spPr>
          <a:xfrm>
            <a:off x="5216962" y="2477691"/>
            <a:ext cx="4196358" cy="30480"/>
          </a:xfrm>
          <a:prstGeom prst="rect">
            <a:avLst/>
          </a:prstGeom>
          <a:solidFill>
            <a:srgbClr val="3C49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6"/>
          <p:cNvSpPr/>
          <p:nvPr/>
        </p:nvSpPr>
        <p:spPr>
          <a:xfrm>
            <a:off x="5216962" y="265199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Kapcsolt Fiók</a:t>
            </a:r>
            <a:endParaRPr b="0" i="0" sz="2200" u="none" cap="none" strike="noStrike"/>
          </a:p>
        </p:txBody>
      </p:sp>
      <p:sp>
        <p:nvSpPr>
          <p:cNvPr id="255" name="Google Shape;255;p26"/>
          <p:cNvSpPr/>
          <p:nvPr/>
        </p:nvSpPr>
        <p:spPr>
          <a:xfrm>
            <a:off x="5216962" y="3142417"/>
            <a:ext cx="4196358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Applikáció fő Stripe fiókja alatt létrejön az edzőterem Connected fiókja </a:t>
            </a:r>
            <a:endParaRPr b="0" i="0" sz="1750" u="none" cap="none" strike="noStrike"/>
          </a:p>
        </p:txBody>
      </p:sp>
      <p:sp>
        <p:nvSpPr>
          <p:cNvPr id="256" name="Google Shape;256;p26"/>
          <p:cNvSpPr/>
          <p:nvPr/>
        </p:nvSpPr>
        <p:spPr>
          <a:xfrm>
            <a:off x="9640133" y="2122646"/>
            <a:ext cx="226814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1750" u="none" cap="none" strike="noStrike"/>
          </a:p>
        </p:txBody>
      </p:sp>
      <p:sp>
        <p:nvSpPr>
          <p:cNvPr id="257" name="Google Shape;257;p26"/>
          <p:cNvSpPr/>
          <p:nvPr/>
        </p:nvSpPr>
        <p:spPr>
          <a:xfrm>
            <a:off x="9640133" y="2477691"/>
            <a:ext cx="4196358" cy="30480"/>
          </a:xfrm>
          <a:prstGeom prst="rect">
            <a:avLst/>
          </a:prstGeom>
          <a:solidFill>
            <a:srgbClr val="3C49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6"/>
          <p:cNvSpPr/>
          <p:nvPr/>
        </p:nvSpPr>
        <p:spPr>
          <a:xfrm>
            <a:off x="9640133" y="265199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Jegyek Létrehozása</a:t>
            </a:r>
            <a:endParaRPr b="0" i="0" sz="2200" u="none" cap="none" strike="noStrike"/>
          </a:p>
        </p:txBody>
      </p:sp>
      <p:sp>
        <p:nvSpPr>
          <p:cNvPr id="259" name="Google Shape;259;p26"/>
          <p:cNvSpPr/>
          <p:nvPr/>
        </p:nvSpPr>
        <p:spPr>
          <a:xfrm>
            <a:off x="9640133" y="3142417"/>
            <a:ext cx="4196358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 klubok jegyeket/ bérleteket hozhatnak létre a Connected fiók alá amiket a felhasználók megvásárolhatnak</a:t>
            </a:r>
            <a:endParaRPr b="0" i="0" sz="1750" u="none" cap="none" strike="noStrike"/>
          </a:p>
        </p:txBody>
      </p:sp>
      <p:sp>
        <p:nvSpPr>
          <p:cNvPr id="260" name="Google Shape;260;p26"/>
          <p:cNvSpPr/>
          <p:nvPr/>
        </p:nvSpPr>
        <p:spPr>
          <a:xfrm>
            <a:off x="793790" y="4990862"/>
            <a:ext cx="2268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1750" u="none" cap="none" strike="noStrike"/>
          </a:p>
        </p:txBody>
      </p:sp>
      <p:sp>
        <p:nvSpPr>
          <p:cNvPr id="261" name="Google Shape;261;p26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3C49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6"/>
          <p:cNvSpPr/>
          <p:nvPr/>
        </p:nvSpPr>
        <p:spPr>
          <a:xfrm>
            <a:off x="793790" y="5520214"/>
            <a:ext cx="3142297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Közvetlen Tranzakciók</a:t>
            </a:r>
            <a:endParaRPr b="0" i="0" sz="2200" u="none" cap="none" strike="noStrike"/>
          </a:p>
        </p:txBody>
      </p:sp>
      <p:sp>
        <p:nvSpPr>
          <p:cNvPr id="263" name="Google Shape;263;p26"/>
          <p:cNvSpPr/>
          <p:nvPr/>
        </p:nvSpPr>
        <p:spPr>
          <a:xfrm>
            <a:off x="793790" y="6010632"/>
            <a:ext cx="6407944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 vásárlások payment intent-el történnek (EU-s megkötés) és az összeg közvetlenül a Connected fiók egyenlegére kerül</a:t>
            </a:r>
            <a:endParaRPr b="0" i="0" sz="1750" u="none" cap="none" strike="noStrike"/>
          </a:p>
        </p:txBody>
      </p:sp>
      <p:sp>
        <p:nvSpPr>
          <p:cNvPr id="264" name="Google Shape;264;p26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0" i="0" sz="1750" u="none" cap="none" strike="noStrike"/>
          </a:p>
        </p:txBody>
      </p:sp>
      <p:sp>
        <p:nvSpPr>
          <p:cNvPr id="265" name="Google Shape;265;p26"/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3C49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6"/>
          <p:cNvSpPr/>
          <p:nvPr/>
        </p:nvSpPr>
        <p:spPr>
          <a:xfrm>
            <a:off x="7428548" y="552021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Stripe Díj</a:t>
            </a:r>
            <a:endParaRPr b="0" i="0" sz="2200" u="none" cap="none" strike="noStrike"/>
          </a:p>
        </p:txBody>
      </p:sp>
      <p:sp>
        <p:nvSpPr>
          <p:cNvPr id="267" name="Google Shape;267;p26"/>
          <p:cNvSpPr/>
          <p:nvPr/>
        </p:nvSpPr>
        <p:spPr>
          <a:xfrm>
            <a:off x="7428548" y="6010632"/>
            <a:ext cx="6407944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Csak Stripe számít fel feldolgozási díjat minden tranzakcióhoz</a:t>
            </a:r>
            <a:endParaRPr b="0" i="0" sz="1750" u="none" cap="none" strike="noStrike"/>
          </a:p>
        </p:txBody>
      </p:sp>
      <p:sp>
        <p:nvSpPr>
          <p:cNvPr id="268" name="Google Shape;268;p26"/>
          <p:cNvSpPr txBox="1"/>
          <p:nvPr>
            <p:ph idx="12" type="sldNum"/>
          </p:nvPr>
        </p:nvSpPr>
        <p:spPr>
          <a:xfrm>
            <a:off x="13482849" y="7599750"/>
            <a:ext cx="1085700" cy="6300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/15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7"/>
          <p:cNvSpPr/>
          <p:nvPr/>
        </p:nvSpPr>
        <p:spPr>
          <a:xfrm>
            <a:off x="793790" y="1882140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Beléptetés és edzés</a:t>
            </a:r>
            <a:endParaRPr b="0" i="0" sz="4450" u="none" cap="none" strike="noStrike"/>
          </a:p>
        </p:txBody>
      </p:sp>
      <p:pic>
        <p:nvPicPr>
          <p:cNvPr descr="preencoded.png" id="275" name="Google Shape;27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3044547"/>
            <a:ext cx="3260646" cy="907256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7"/>
          <p:cNvSpPr/>
          <p:nvPr/>
        </p:nvSpPr>
        <p:spPr>
          <a:xfrm>
            <a:off x="1020604" y="4178617"/>
            <a:ext cx="2807018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QR Kód Megjelenítés</a:t>
            </a:r>
            <a:endParaRPr b="0" i="0" sz="2200" u="none" cap="none" strike="noStrike"/>
          </a:p>
        </p:txBody>
      </p:sp>
      <p:sp>
        <p:nvSpPr>
          <p:cNvPr id="277" name="Google Shape;277;p27"/>
          <p:cNvSpPr/>
          <p:nvPr/>
        </p:nvSpPr>
        <p:spPr>
          <a:xfrm>
            <a:off x="1020604" y="5023366"/>
            <a:ext cx="2807018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 felhasználó megmutatja a jegy QR kódját az edzőterem dolgozójának</a:t>
            </a:r>
            <a:endParaRPr b="0" i="0" sz="1750" u="none" cap="none" strike="noStrike"/>
          </a:p>
        </p:txBody>
      </p:sp>
      <p:pic>
        <p:nvPicPr>
          <p:cNvPr descr="preencoded.png" id="278" name="Google Shape;27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54435" y="3044547"/>
            <a:ext cx="3260765" cy="907256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7"/>
          <p:cNvSpPr/>
          <p:nvPr/>
        </p:nvSpPr>
        <p:spPr>
          <a:xfrm>
            <a:off x="4281249" y="4178617"/>
            <a:ext cx="2807137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QR Kód Beolvasás</a:t>
            </a:r>
            <a:endParaRPr b="0" i="0" sz="2200" u="none" cap="none" strike="noStrike"/>
          </a:p>
        </p:txBody>
      </p:sp>
      <p:sp>
        <p:nvSpPr>
          <p:cNvPr id="280" name="Google Shape;280;p27"/>
          <p:cNvSpPr/>
          <p:nvPr/>
        </p:nvSpPr>
        <p:spPr>
          <a:xfrm>
            <a:off x="4281249" y="4669036"/>
            <a:ext cx="2807137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 dolgozó beolvassa a QR kódot egy szkennerrel vagy sima webkamerával</a:t>
            </a:r>
            <a:endParaRPr b="0" i="0" sz="1750" u="none" cap="none" strike="noStrike"/>
          </a:p>
        </p:txBody>
      </p:sp>
      <p:pic>
        <p:nvPicPr>
          <p:cNvPr descr="preencoded.png" id="281" name="Google Shape;281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15200" y="3044547"/>
            <a:ext cx="3260646" cy="907256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7"/>
          <p:cNvSpPr/>
          <p:nvPr/>
        </p:nvSpPr>
        <p:spPr>
          <a:xfrm>
            <a:off x="7542014" y="4178617"/>
            <a:ext cx="2807018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Kezdődhet az edzés</a:t>
            </a:r>
            <a:endParaRPr b="0" i="0" sz="2200" u="none" cap="none" strike="noStrike"/>
          </a:p>
        </p:txBody>
      </p:sp>
      <p:sp>
        <p:nvSpPr>
          <p:cNvPr id="283" name="Google Shape;283;p27"/>
          <p:cNvSpPr/>
          <p:nvPr/>
        </p:nvSpPr>
        <p:spPr>
          <a:xfrm>
            <a:off x="7542014" y="4669036"/>
            <a:ext cx="2807018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 felhasználó kap egy öltözőszekrény számot és elkezdődik az edzése</a:t>
            </a:r>
            <a:endParaRPr b="0" i="0" sz="1750" u="none" cap="none" strike="noStrike"/>
          </a:p>
        </p:txBody>
      </p:sp>
      <p:pic>
        <p:nvPicPr>
          <p:cNvPr descr="preencoded.png" id="284" name="Google Shape;284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75846" y="3044547"/>
            <a:ext cx="3260765" cy="907256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7"/>
          <p:cNvSpPr/>
          <p:nvPr/>
        </p:nvSpPr>
        <p:spPr>
          <a:xfrm>
            <a:off x="10802660" y="4178617"/>
            <a:ext cx="2807137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Edzés vége</a:t>
            </a:r>
            <a:endParaRPr b="0" i="0" sz="2200" u="none" cap="none" strike="noStrike"/>
          </a:p>
        </p:txBody>
      </p:sp>
      <p:sp>
        <p:nvSpPr>
          <p:cNvPr id="286" name="Google Shape;286;p27"/>
          <p:cNvSpPr/>
          <p:nvPr/>
        </p:nvSpPr>
        <p:spPr>
          <a:xfrm>
            <a:off x="10802660" y="4669036"/>
            <a:ext cx="2807137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 felhasználó visszaszolgáltatja a kulcsot és a dolgozó lezárja az edzését</a:t>
            </a:r>
            <a:endParaRPr b="0" i="0" sz="1750" u="none" cap="none" strike="noStrike"/>
          </a:p>
        </p:txBody>
      </p:sp>
      <p:sp>
        <p:nvSpPr>
          <p:cNvPr id="287" name="Google Shape;287;p27"/>
          <p:cNvSpPr txBox="1"/>
          <p:nvPr>
            <p:ph idx="12" type="sldNum"/>
          </p:nvPr>
        </p:nvSpPr>
        <p:spPr>
          <a:xfrm>
            <a:off x="13482849" y="7599750"/>
            <a:ext cx="1085700" cy="6300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/15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8"/>
          <p:cNvSpPr/>
          <p:nvPr/>
        </p:nvSpPr>
        <p:spPr>
          <a:xfrm>
            <a:off x="793790" y="1726049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Tesztelés</a:t>
            </a:r>
            <a:endParaRPr b="0" i="0" sz="4450" u="none" cap="none" strike="noStrike"/>
          </a:p>
        </p:txBody>
      </p:sp>
      <p:pic>
        <p:nvPicPr>
          <p:cNvPr descr="preencoded.png" id="294" name="Google Shape;29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5730" y="1754386"/>
            <a:ext cx="3238500" cy="77724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8"/>
          <p:cNvSpPr/>
          <p:nvPr/>
        </p:nvSpPr>
        <p:spPr>
          <a:xfrm>
            <a:off x="793790" y="3041928"/>
            <a:ext cx="6407944" cy="1730812"/>
          </a:xfrm>
          <a:prstGeom prst="roundRect">
            <a:avLst>
              <a:gd fmla="val 8453" name="adj"/>
            </a:avLst>
          </a:prstGeom>
          <a:solidFill>
            <a:srgbClr val="FFFFFF"/>
          </a:solidFill>
          <a:ln cap="flat" cmpd="sng" w="30475">
            <a:solidFill>
              <a:srgbClr val="3C49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8"/>
          <p:cNvSpPr/>
          <p:nvPr/>
        </p:nvSpPr>
        <p:spPr>
          <a:xfrm>
            <a:off x="763310" y="3041928"/>
            <a:ext cx="121920" cy="1730812"/>
          </a:xfrm>
          <a:prstGeom prst="roundRect">
            <a:avLst>
              <a:gd fmla="val 78139" name="adj"/>
            </a:avLst>
          </a:prstGeom>
          <a:solidFill>
            <a:srgbClr val="3C49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8"/>
          <p:cNvSpPr/>
          <p:nvPr/>
        </p:nvSpPr>
        <p:spPr>
          <a:xfrm>
            <a:off x="1142524" y="3299222"/>
            <a:ext cx="4443770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Automatizált Backend Tesztelés</a:t>
            </a:r>
            <a:endParaRPr b="0" i="0" sz="2200" u="none" cap="none" strike="noStrike"/>
          </a:p>
        </p:txBody>
      </p:sp>
      <p:sp>
        <p:nvSpPr>
          <p:cNvPr id="298" name="Google Shape;298;p28"/>
          <p:cNvSpPr/>
          <p:nvPr/>
        </p:nvSpPr>
        <p:spPr>
          <a:xfrm>
            <a:off x="1142524" y="3789640"/>
            <a:ext cx="580191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Docker Testcontainers használata 446 automatizált teszttel, amelyek sikeresen lefutottak.</a:t>
            </a:r>
            <a:endParaRPr b="0" i="0" sz="1750" u="none" cap="none" strike="noStrike"/>
          </a:p>
        </p:txBody>
      </p:sp>
      <p:sp>
        <p:nvSpPr>
          <p:cNvPr id="299" name="Google Shape;299;p28"/>
          <p:cNvSpPr/>
          <p:nvPr/>
        </p:nvSpPr>
        <p:spPr>
          <a:xfrm>
            <a:off x="7428548" y="3041928"/>
            <a:ext cx="6408063" cy="1730812"/>
          </a:xfrm>
          <a:prstGeom prst="roundRect">
            <a:avLst>
              <a:gd fmla="val 8453" name="adj"/>
            </a:avLst>
          </a:prstGeom>
          <a:solidFill>
            <a:srgbClr val="FFFFFF"/>
          </a:solidFill>
          <a:ln cap="flat" cmpd="sng" w="30475">
            <a:solidFill>
              <a:srgbClr val="3C49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8"/>
          <p:cNvSpPr/>
          <p:nvPr/>
        </p:nvSpPr>
        <p:spPr>
          <a:xfrm>
            <a:off x="7398067" y="3041928"/>
            <a:ext cx="121920" cy="1730812"/>
          </a:xfrm>
          <a:prstGeom prst="roundRect">
            <a:avLst>
              <a:gd fmla="val 78139" name="adj"/>
            </a:avLst>
          </a:prstGeom>
          <a:solidFill>
            <a:srgbClr val="3C49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8"/>
          <p:cNvSpPr/>
          <p:nvPr/>
        </p:nvSpPr>
        <p:spPr>
          <a:xfrm>
            <a:off x="7777282" y="329922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Átfogó lefedettség</a:t>
            </a:r>
            <a:endParaRPr b="0" i="0" sz="2200" u="none" cap="none" strike="noStrike"/>
          </a:p>
        </p:txBody>
      </p:sp>
      <p:sp>
        <p:nvSpPr>
          <p:cNvPr id="302" name="Google Shape;302;p28"/>
          <p:cNvSpPr/>
          <p:nvPr/>
        </p:nvSpPr>
        <p:spPr>
          <a:xfrm>
            <a:off x="7777282" y="3789640"/>
            <a:ext cx="580203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Email küldés, kliens értesítési funkció és Stripe integrációkat is lefedi.</a:t>
            </a:r>
            <a:endParaRPr b="0" i="0" sz="1750" u="none" cap="none" strike="noStrike"/>
          </a:p>
        </p:txBody>
      </p:sp>
      <p:sp>
        <p:nvSpPr>
          <p:cNvPr id="303" name="Google Shape;303;p28"/>
          <p:cNvSpPr/>
          <p:nvPr/>
        </p:nvSpPr>
        <p:spPr>
          <a:xfrm>
            <a:off x="793790" y="4999553"/>
            <a:ext cx="6407944" cy="1730812"/>
          </a:xfrm>
          <a:prstGeom prst="roundRect">
            <a:avLst>
              <a:gd fmla="val 8453" name="adj"/>
            </a:avLst>
          </a:prstGeom>
          <a:solidFill>
            <a:srgbClr val="FFFFFF"/>
          </a:solidFill>
          <a:ln cap="flat" cmpd="sng" w="30475">
            <a:solidFill>
              <a:srgbClr val="3C49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8"/>
          <p:cNvSpPr/>
          <p:nvPr/>
        </p:nvSpPr>
        <p:spPr>
          <a:xfrm>
            <a:off x="763310" y="4999553"/>
            <a:ext cx="121920" cy="1730812"/>
          </a:xfrm>
          <a:prstGeom prst="roundRect">
            <a:avLst>
              <a:gd fmla="val 78139" name="adj"/>
            </a:avLst>
          </a:prstGeom>
          <a:solidFill>
            <a:srgbClr val="3C49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8"/>
          <p:cNvSpPr/>
          <p:nvPr/>
        </p:nvSpPr>
        <p:spPr>
          <a:xfrm>
            <a:off x="1142524" y="525684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Stripe Webhook-ok</a:t>
            </a:r>
            <a:endParaRPr b="0" i="0" sz="2200" u="none" cap="none" strike="noStrike"/>
          </a:p>
        </p:txBody>
      </p:sp>
      <p:sp>
        <p:nvSpPr>
          <p:cNvPr id="306" name="Google Shape;306;p28"/>
          <p:cNvSpPr/>
          <p:nvPr/>
        </p:nvSpPr>
        <p:spPr>
          <a:xfrm>
            <a:off x="1142524" y="5747266"/>
            <a:ext cx="580191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Stripe CLI alapú manuális hitelesítés az eseménykezelés biztosítására.</a:t>
            </a:r>
            <a:endParaRPr b="0" i="0" sz="1750" u="none" cap="none" strike="noStrike"/>
          </a:p>
        </p:txBody>
      </p:sp>
      <p:sp>
        <p:nvSpPr>
          <p:cNvPr id="307" name="Google Shape;307;p28"/>
          <p:cNvSpPr/>
          <p:nvPr/>
        </p:nvSpPr>
        <p:spPr>
          <a:xfrm>
            <a:off x="7428548" y="4999553"/>
            <a:ext cx="6408063" cy="1730812"/>
          </a:xfrm>
          <a:prstGeom prst="roundRect">
            <a:avLst>
              <a:gd fmla="val 8453" name="adj"/>
            </a:avLst>
          </a:prstGeom>
          <a:solidFill>
            <a:srgbClr val="FFFFFF"/>
          </a:solidFill>
          <a:ln cap="flat" cmpd="sng" w="30475">
            <a:solidFill>
              <a:srgbClr val="3C49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8"/>
          <p:cNvSpPr/>
          <p:nvPr/>
        </p:nvSpPr>
        <p:spPr>
          <a:xfrm>
            <a:off x="7398067" y="4999553"/>
            <a:ext cx="121920" cy="1730812"/>
          </a:xfrm>
          <a:prstGeom prst="roundRect">
            <a:avLst>
              <a:gd fmla="val 78139" name="adj"/>
            </a:avLst>
          </a:prstGeom>
          <a:solidFill>
            <a:srgbClr val="3C49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8"/>
          <p:cNvSpPr/>
          <p:nvPr/>
        </p:nvSpPr>
        <p:spPr>
          <a:xfrm>
            <a:off x="7777282" y="525684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Frontend Validáció</a:t>
            </a:r>
            <a:endParaRPr b="0" i="0" sz="2200" u="none" cap="none" strike="noStrike"/>
          </a:p>
        </p:txBody>
      </p:sp>
      <p:sp>
        <p:nvSpPr>
          <p:cNvPr id="310" name="Google Shape;310;p28"/>
          <p:cNvSpPr/>
          <p:nvPr/>
        </p:nvSpPr>
        <p:spPr>
          <a:xfrm>
            <a:off x="7777282" y="5747266"/>
            <a:ext cx="580203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 felhasználói felület funkcionalitásának ellenőrzése manuális tesztelés</a:t>
            </a:r>
            <a:r>
              <a:rPr lang="en-US" sz="1750">
                <a:latin typeface="Inter"/>
                <a:ea typeface="Inter"/>
                <a:cs typeface="Inter"/>
                <a:sym typeface="Inter"/>
              </a:rPr>
              <a:t>sel történt.</a:t>
            </a:r>
            <a:endParaRPr b="0" i="0" sz="1750" u="none" cap="none" strike="noStrike"/>
          </a:p>
        </p:txBody>
      </p:sp>
      <p:sp>
        <p:nvSpPr>
          <p:cNvPr id="311" name="Google Shape;311;p28"/>
          <p:cNvSpPr txBox="1"/>
          <p:nvPr>
            <p:ph idx="12" type="sldNum"/>
          </p:nvPr>
        </p:nvSpPr>
        <p:spPr>
          <a:xfrm>
            <a:off x="13482849" y="7599750"/>
            <a:ext cx="1085700" cy="6300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/15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9"/>
          <p:cNvSpPr/>
          <p:nvPr/>
        </p:nvSpPr>
        <p:spPr>
          <a:xfrm>
            <a:off x="793790" y="1158716"/>
            <a:ext cx="5387100" cy="6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Inter"/>
              <a:buNone/>
            </a:pPr>
            <a:r>
              <a:rPr b="1" i="0" lang="en-US" sz="4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Összegzés</a:t>
            </a:r>
            <a:endParaRPr b="0" i="0" sz="4200" u="none" cap="none" strike="noStrike"/>
          </a:p>
        </p:txBody>
      </p:sp>
      <p:sp>
        <p:nvSpPr>
          <p:cNvPr id="318" name="Google Shape;318;p29"/>
          <p:cNvSpPr/>
          <p:nvPr/>
        </p:nvSpPr>
        <p:spPr>
          <a:xfrm>
            <a:off x="793740" y="2770811"/>
            <a:ext cx="107700" cy="107700"/>
          </a:xfrm>
          <a:prstGeom prst="roundRect">
            <a:avLst>
              <a:gd fmla="val 424777" name="adj"/>
            </a:avLst>
          </a:prstGeom>
          <a:solidFill>
            <a:srgbClr val="3C49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9"/>
          <p:cNvSpPr/>
          <p:nvPr/>
        </p:nvSpPr>
        <p:spPr>
          <a:xfrm>
            <a:off x="1106041" y="2656336"/>
            <a:ext cx="30582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1" lang="en-US" sz="2100">
                <a:latin typeface="Inter"/>
                <a:ea typeface="Inter"/>
                <a:cs typeface="Inter"/>
                <a:sym typeface="Inter"/>
              </a:rPr>
              <a:t>Robusztus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architektúra</a:t>
            </a:r>
            <a:endParaRPr b="0" i="0" sz="2100" u="none" cap="none" strike="noStrike"/>
          </a:p>
        </p:txBody>
      </p:sp>
      <p:sp>
        <p:nvSpPr>
          <p:cNvPr id="320" name="Google Shape;320;p29"/>
          <p:cNvSpPr/>
          <p:nvPr/>
        </p:nvSpPr>
        <p:spPr>
          <a:xfrm>
            <a:off x="1106041" y="3115679"/>
            <a:ext cx="6081000" cy="6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Karbantartható és bővíthető architektúra az alkalmazás backend-jén és frontend-jén is.</a:t>
            </a:r>
            <a:endParaRPr b="0" i="0" sz="1650" u="none" cap="none" strike="noStrike"/>
          </a:p>
        </p:txBody>
      </p:sp>
      <p:sp>
        <p:nvSpPr>
          <p:cNvPr id="321" name="Google Shape;321;p29"/>
          <p:cNvSpPr/>
          <p:nvPr/>
        </p:nvSpPr>
        <p:spPr>
          <a:xfrm>
            <a:off x="793778" y="4188500"/>
            <a:ext cx="107700" cy="107700"/>
          </a:xfrm>
          <a:prstGeom prst="roundRect">
            <a:avLst>
              <a:gd fmla="val 424777" name="adj"/>
            </a:avLst>
          </a:prstGeom>
          <a:solidFill>
            <a:srgbClr val="3C49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9"/>
          <p:cNvSpPr/>
          <p:nvPr/>
        </p:nvSpPr>
        <p:spPr>
          <a:xfrm>
            <a:off x="1106078" y="4074018"/>
            <a:ext cx="269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Modern platform</a:t>
            </a:r>
            <a:endParaRPr b="0" i="0" sz="2100" u="none" cap="none" strike="noStrike"/>
          </a:p>
        </p:txBody>
      </p:sp>
      <p:sp>
        <p:nvSpPr>
          <p:cNvPr id="323" name="Google Shape;323;p29"/>
          <p:cNvSpPr/>
          <p:nvPr/>
        </p:nvSpPr>
        <p:spPr>
          <a:xfrm>
            <a:off x="1106079" y="4533361"/>
            <a:ext cx="6081000" cy="6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Létrejött egy olyan modern platform, amely ténylegesen tud nem csak egy hanem több edzőterem bérleteit kezelni</a:t>
            </a:r>
            <a:endParaRPr b="0" i="0" sz="1650" u="none" cap="none" strike="noStrike"/>
          </a:p>
        </p:txBody>
      </p:sp>
      <p:grpSp>
        <p:nvGrpSpPr>
          <p:cNvPr id="324" name="Google Shape;324;p29"/>
          <p:cNvGrpSpPr/>
          <p:nvPr/>
        </p:nvGrpSpPr>
        <p:grpSpPr>
          <a:xfrm>
            <a:off x="793752" y="5606188"/>
            <a:ext cx="6393301" cy="1131643"/>
            <a:chOff x="793778" y="5951038"/>
            <a:chExt cx="6393301" cy="1131643"/>
          </a:xfrm>
        </p:grpSpPr>
        <p:sp>
          <p:nvSpPr>
            <p:cNvPr id="325" name="Google Shape;325;p29"/>
            <p:cNvSpPr/>
            <p:nvPr/>
          </p:nvSpPr>
          <p:spPr>
            <a:xfrm>
              <a:off x="793778" y="6065457"/>
              <a:ext cx="107700" cy="107700"/>
            </a:xfrm>
            <a:prstGeom prst="roundRect">
              <a:avLst>
                <a:gd fmla="val 424777" name="adj"/>
              </a:avLst>
            </a:prstGeom>
            <a:solidFill>
              <a:srgbClr val="3C49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9"/>
            <p:cNvSpPr/>
            <p:nvPr/>
          </p:nvSpPr>
          <p:spPr>
            <a:xfrm>
              <a:off x="1106078" y="5951038"/>
              <a:ext cx="2693700" cy="33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619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Inter"/>
                <a:buNone/>
              </a:pPr>
              <a:r>
                <a:rPr b="1" i="0" lang="en-US" sz="2100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Felhasználói élmény</a:t>
              </a:r>
              <a:endParaRPr b="0" i="0" sz="2100" u="none" cap="none" strike="noStrike"/>
            </a:p>
          </p:txBody>
        </p:sp>
        <p:sp>
          <p:nvSpPr>
            <p:cNvPr id="327" name="Google Shape;327;p29"/>
            <p:cNvSpPr/>
            <p:nvPr/>
          </p:nvSpPr>
          <p:spPr>
            <a:xfrm>
              <a:off x="1106079" y="6410381"/>
              <a:ext cx="6081000" cy="67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757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50"/>
                <a:buFont typeface="Inter"/>
                <a:buNone/>
              </a:pPr>
              <a:r>
                <a:rPr b="0" i="0" lang="en-US" sz="1650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Modern frontend élmény, amely könnyen kezelhető és gördülékeny élményt biztosít minden felhasználó számára</a:t>
              </a:r>
              <a:endParaRPr b="0" i="0" sz="1650" u="none" cap="none" strike="noStrike"/>
            </a:p>
          </p:txBody>
        </p:sp>
      </p:grpSp>
      <p:sp>
        <p:nvSpPr>
          <p:cNvPr id="328" name="Google Shape;328;p29"/>
          <p:cNvSpPr/>
          <p:nvPr/>
        </p:nvSpPr>
        <p:spPr>
          <a:xfrm>
            <a:off x="7585710" y="1158716"/>
            <a:ext cx="5387100" cy="6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Inter"/>
              <a:buNone/>
            </a:pPr>
            <a:r>
              <a:rPr b="1" i="0" lang="en-US" sz="4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Továbbfejlesztés</a:t>
            </a:r>
            <a:endParaRPr b="0" i="0" sz="4200" u="none" cap="none" strike="noStrike"/>
          </a:p>
        </p:txBody>
      </p:sp>
      <p:sp>
        <p:nvSpPr>
          <p:cNvPr id="329" name="Google Shape;329;p29"/>
          <p:cNvSpPr/>
          <p:nvPr/>
        </p:nvSpPr>
        <p:spPr>
          <a:xfrm>
            <a:off x="7443023" y="2758226"/>
            <a:ext cx="107700" cy="107700"/>
          </a:xfrm>
          <a:prstGeom prst="roundRect">
            <a:avLst>
              <a:gd fmla="val 424777" name="adj"/>
            </a:avLst>
          </a:prstGeom>
          <a:solidFill>
            <a:srgbClr val="3C49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9"/>
          <p:cNvSpPr/>
          <p:nvPr/>
        </p:nvSpPr>
        <p:spPr>
          <a:xfrm>
            <a:off x="7755324" y="2643807"/>
            <a:ext cx="269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Biztonság</a:t>
            </a:r>
            <a:endParaRPr b="0" i="0" sz="2100" u="none" cap="none" strike="noStrike"/>
          </a:p>
        </p:txBody>
      </p:sp>
      <p:sp>
        <p:nvSpPr>
          <p:cNvPr id="331" name="Google Shape;331;p29"/>
          <p:cNvSpPr/>
          <p:nvPr/>
        </p:nvSpPr>
        <p:spPr>
          <a:xfrm>
            <a:off x="7755324" y="3103149"/>
            <a:ext cx="6081300" cy="6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Mivel fizetéseket kezel, ezért a biztonságot ajánlott fejleszteni</a:t>
            </a:r>
            <a:endParaRPr b="0" i="0" sz="1650" u="none" cap="none" strike="noStrike"/>
          </a:p>
        </p:txBody>
      </p:sp>
      <p:sp>
        <p:nvSpPr>
          <p:cNvPr id="332" name="Google Shape;332;p29"/>
          <p:cNvSpPr/>
          <p:nvPr/>
        </p:nvSpPr>
        <p:spPr>
          <a:xfrm>
            <a:off x="7443061" y="4302912"/>
            <a:ext cx="107700" cy="107700"/>
          </a:xfrm>
          <a:prstGeom prst="roundRect">
            <a:avLst>
              <a:gd fmla="val 424777" name="adj"/>
            </a:avLst>
          </a:prstGeom>
          <a:solidFill>
            <a:srgbClr val="3C49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9"/>
          <p:cNvSpPr/>
          <p:nvPr/>
        </p:nvSpPr>
        <p:spPr>
          <a:xfrm>
            <a:off x="7755362" y="4188493"/>
            <a:ext cx="269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Stripe integráció</a:t>
            </a:r>
            <a:endParaRPr b="0" i="0" sz="2100" u="none" cap="none" strike="noStrike"/>
          </a:p>
        </p:txBody>
      </p:sp>
      <p:sp>
        <p:nvSpPr>
          <p:cNvPr id="334" name="Google Shape;334;p29"/>
          <p:cNvSpPr/>
          <p:nvPr/>
        </p:nvSpPr>
        <p:spPr>
          <a:xfrm>
            <a:off x="7755362" y="4647836"/>
            <a:ext cx="6081300" cy="10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 Stripe integrációt elsimítani, hogy kizárólag a saját webes felületről tudják kezelni a Connected fiókot az edzőtermek, további webhook-ok kezelése stb.</a:t>
            </a:r>
            <a:endParaRPr b="0" i="0" sz="1650" u="none" cap="none" strike="noStrike"/>
          </a:p>
        </p:txBody>
      </p:sp>
      <p:sp>
        <p:nvSpPr>
          <p:cNvPr id="335" name="Google Shape;335;p29"/>
          <p:cNvSpPr/>
          <p:nvPr/>
        </p:nvSpPr>
        <p:spPr>
          <a:xfrm>
            <a:off x="7443061" y="6179857"/>
            <a:ext cx="107700" cy="107700"/>
          </a:xfrm>
          <a:prstGeom prst="roundRect">
            <a:avLst>
              <a:gd fmla="val 424777" name="adj"/>
            </a:avLst>
          </a:prstGeom>
          <a:solidFill>
            <a:srgbClr val="3C49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9"/>
          <p:cNvSpPr/>
          <p:nvPr/>
        </p:nvSpPr>
        <p:spPr>
          <a:xfrm>
            <a:off x="7755362" y="6065438"/>
            <a:ext cx="269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Email szolgáltató</a:t>
            </a:r>
            <a:endParaRPr b="0" i="0" sz="2100" u="none" cap="none" strike="noStrike"/>
          </a:p>
        </p:txBody>
      </p:sp>
      <p:sp>
        <p:nvSpPr>
          <p:cNvPr id="337" name="Google Shape;337;p29"/>
          <p:cNvSpPr/>
          <p:nvPr/>
        </p:nvSpPr>
        <p:spPr>
          <a:xfrm>
            <a:off x="7755362" y="6524781"/>
            <a:ext cx="6081300" cy="6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Tényleges email szolgáltató integrálása lokális megoldás helyett</a:t>
            </a:r>
            <a:endParaRPr b="0" i="0" sz="1650" u="none" cap="none" strike="noStrike"/>
          </a:p>
        </p:txBody>
      </p:sp>
      <p:sp>
        <p:nvSpPr>
          <p:cNvPr id="338" name="Google Shape;338;p29"/>
          <p:cNvSpPr txBox="1"/>
          <p:nvPr>
            <p:ph idx="12" type="sldNum"/>
          </p:nvPr>
        </p:nvSpPr>
        <p:spPr>
          <a:xfrm>
            <a:off x="13482849" y="7599750"/>
            <a:ext cx="1085700" cy="6300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/15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